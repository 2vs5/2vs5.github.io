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7" r:id="rId1"/>
    <p:sldMasterId id="2147483688" r:id="rId2"/>
  </p:sldMasterIdLst>
  <p:notesMasterIdLst>
    <p:notesMasterId r:id="rId11"/>
  </p:notesMasterIdLst>
  <p:sldIdLst>
    <p:sldId id="256" r:id="rId3"/>
    <p:sldId id="257" r:id="rId4"/>
    <p:sldId id="258" r:id="rId5"/>
    <p:sldId id="260" r:id="rId6"/>
    <p:sldId id="261" r:id="rId7"/>
    <p:sldId id="262" r:id="rId8"/>
    <p:sldId id="267" r:id="rId9"/>
    <p:sldId id="263" r:id="rId10"/>
  </p:sldIdLst>
  <p:sldSz cx="9144000" cy="5143500" type="screen16x9"/>
  <p:notesSz cx="6858000" cy="9144000"/>
  <p:embeddedFontLst>
    <p:embeddedFont>
      <p:font typeface="맑은 고딕" panose="020B0503020000020004" pitchFamily="34" charset="-127"/>
      <p:regular r:id="rId12"/>
      <p:bold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Figtree Black" panose="020B0604020202020204" charset="0"/>
      <p:bold r:id="rId18"/>
      <p:boldItalic r:id="rId19"/>
    </p:embeddedFont>
    <p:embeddedFont>
      <p:font typeface="Hanken Grotesk" panose="020B0604020202020204" charset="0"/>
      <p:regular r:id="rId20"/>
      <p:bold r:id="rId21"/>
      <p:italic r:id="rId22"/>
      <p:boldItalic r:id="rId23"/>
    </p:embeddedFont>
    <p:embeddedFont>
      <p:font typeface="Lato" panose="020F0502020204030203" pitchFamily="34" charset="0"/>
      <p:regular r:id="rId24"/>
      <p:bold r:id="rId25"/>
      <p:italic r:id="rId26"/>
      <p:boldItalic r:id="rId27"/>
    </p:embeddedFont>
    <p:embeddedFont>
      <p:font typeface="Nunito Light" pitchFamily="2" charset="0"/>
      <p:regular r:id="rId28"/>
      <p: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88" autoAdjust="0"/>
    <p:restoredTop sz="94660"/>
  </p:normalViewPr>
  <p:slideViewPr>
    <p:cSldViewPr snapToGrid="0">
      <p:cViewPr varScale="1">
        <p:scale>
          <a:sx n="137" d="100"/>
          <a:sy n="137" d="100"/>
        </p:scale>
        <p:origin x="96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3" Type="http://schemas.openxmlformats.org/officeDocument/2006/relationships/slide" Target="slides/slide1.xml"/><Relationship Id="rId21" Type="http://schemas.openxmlformats.org/officeDocument/2006/relationships/font" Target="fonts/font10.fntdata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font" Target="fonts/font1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font" Target="fonts/font17.fntdata"/><Relationship Id="rId10" Type="http://schemas.openxmlformats.org/officeDocument/2006/relationships/slide" Target="slides/slide8.xml"/><Relationship Id="rId19" Type="http://schemas.openxmlformats.org/officeDocument/2006/relationships/font" Target="fonts/font8.fntdata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font" Target="fonts/font16.fntdata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cfae6a0c77_2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cfae6a0c77_2_2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cfae6a0c77_2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cfae6a0c77_2_2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cfae6a0c77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cfae6a0c77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cfae6a0c77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cfae6a0c77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15338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cfae6a0c77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cfae6a0c77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24956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cfae6a0c77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cfae6a0c77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24580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cfae6a0c77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cfae6a0c77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53521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cfae6a0c77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cfae6a0c77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9892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/>
        </p:nvSpPr>
        <p:spPr>
          <a:xfrm>
            <a:off x="7346075" y="130450"/>
            <a:ext cx="4889100" cy="4889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" name="Google Shape;55;p14"/>
          <p:cNvGrpSpPr/>
          <p:nvPr/>
        </p:nvGrpSpPr>
        <p:grpSpPr>
          <a:xfrm>
            <a:off x="727425" y="-49275"/>
            <a:ext cx="7703400" cy="5243325"/>
            <a:chOff x="727425" y="-49275"/>
            <a:chExt cx="7703400" cy="5243325"/>
          </a:xfrm>
        </p:grpSpPr>
        <p:sp>
          <p:nvSpPr>
            <p:cNvPr id="56" name="Google Shape;56;p14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7" name="Google Shape;57;p14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8;p14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9" name="Google Shape;59;p14"/>
          <p:cNvSpPr txBox="1">
            <a:spLocks noGrp="1"/>
          </p:cNvSpPr>
          <p:nvPr>
            <p:ph type="ctrTitle"/>
          </p:nvPr>
        </p:nvSpPr>
        <p:spPr>
          <a:xfrm>
            <a:off x="1087125" y="1670213"/>
            <a:ext cx="5897400" cy="13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ubTitle" idx="1"/>
          </p:nvPr>
        </p:nvSpPr>
        <p:spPr>
          <a:xfrm>
            <a:off x="1087125" y="2997488"/>
            <a:ext cx="58974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/>
          <p:nvPr/>
        </p:nvSpPr>
        <p:spPr>
          <a:xfrm>
            <a:off x="6433725" y="0"/>
            <a:ext cx="5143500" cy="514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15"/>
          <p:cNvGrpSpPr/>
          <p:nvPr/>
        </p:nvGrpSpPr>
        <p:grpSpPr>
          <a:xfrm>
            <a:off x="713225" y="-62550"/>
            <a:ext cx="7717800" cy="5210100"/>
            <a:chOff x="713225" y="-62550"/>
            <a:chExt cx="7717800" cy="5210100"/>
          </a:xfrm>
        </p:grpSpPr>
        <p:sp>
          <p:nvSpPr>
            <p:cNvPr id="64" name="Google Shape;64;p15"/>
            <p:cNvSpPr/>
            <p:nvPr/>
          </p:nvSpPr>
          <p:spPr>
            <a:xfrm>
              <a:off x="713225" y="533550"/>
              <a:ext cx="77178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5" name="Google Shape;65;p15"/>
            <p:cNvCxnSpPr/>
            <p:nvPr/>
          </p:nvCxnSpPr>
          <p:spPr>
            <a:xfrm rot="10800000">
              <a:off x="713225" y="-62550"/>
              <a:ext cx="0" cy="596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15"/>
            <p:cNvCxnSpPr/>
            <p:nvPr/>
          </p:nvCxnSpPr>
          <p:spPr>
            <a:xfrm>
              <a:off x="8430775" y="4608450"/>
              <a:ext cx="0" cy="539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1216475" y="1977150"/>
            <a:ext cx="5067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533550"/>
            <a:ext cx="824400" cy="7050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3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69" name="Google Shape;69;p15"/>
          <p:cNvSpPr txBox="1">
            <a:spLocks noGrp="1"/>
          </p:cNvSpPr>
          <p:nvPr>
            <p:ph type="subTitle" idx="1"/>
          </p:nvPr>
        </p:nvSpPr>
        <p:spPr>
          <a:xfrm>
            <a:off x="1216475" y="2730750"/>
            <a:ext cx="5067600" cy="43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2" name="Google Shape;72;p16"/>
          <p:cNvGrpSpPr/>
          <p:nvPr/>
        </p:nvGrpSpPr>
        <p:grpSpPr>
          <a:xfrm>
            <a:off x="-19050" y="232800"/>
            <a:ext cx="8930250" cy="5027400"/>
            <a:chOff x="-19050" y="232800"/>
            <a:chExt cx="8930250" cy="5027400"/>
          </a:xfrm>
        </p:grpSpPr>
        <p:sp>
          <p:nvSpPr>
            <p:cNvPr id="73" name="Google Shape;73;p16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4" name="Google Shape;74;p16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" name="Google Shape;75;p16"/>
            <p:cNvCxnSpPr/>
            <p:nvPr/>
          </p:nvCxnSpPr>
          <p:spPr>
            <a:xfrm>
              <a:off x="8911200" y="4917300"/>
              <a:ext cx="0" cy="3429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6" name="Google Shape;76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" name="Google Shape;80;p17"/>
          <p:cNvGrpSpPr/>
          <p:nvPr/>
        </p:nvGrpSpPr>
        <p:grpSpPr>
          <a:xfrm>
            <a:off x="-77100" y="232800"/>
            <a:ext cx="8988300" cy="4964300"/>
            <a:chOff x="-77100" y="232800"/>
            <a:chExt cx="8988300" cy="4964300"/>
          </a:xfrm>
        </p:grpSpPr>
        <p:sp>
          <p:nvSpPr>
            <p:cNvPr id="81" name="Google Shape;81;p17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82" name="Google Shape;82;p17"/>
            <p:cNvCxnSpPr/>
            <p:nvPr/>
          </p:nvCxnSpPr>
          <p:spPr>
            <a:xfrm rot="10800000">
              <a:off x="-77100" y="232800"/>
              <a:ext cx="309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3" name="Google Shape;83;p17"/>
            <p:cNvCxnSpPr/>
            <p:nvPr/>
          </p:nvCxnSpPr>
          <p:spPr>
            <a:xfrm rot="10800000">
              <a:off x="8911200" y="4890500"/>
              <a:ext cx="0" cy="306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84" name="Google Shape;84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subTitle" idx="1"/>
          </p:nvPr>
        </p:nvSpPr>
        <p:spPr>
          <a:xfrm>
            <a:off x="4651268" y="1736553"/>
            <a:ext cx="3772800" cy="27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subTitle" idx="2"/>
          </p:nvPr>
        </p:nvSpPr>
        <p:spPr>
          <a:xfrm>
            <a:off x="720000" y="1736553"/>
            <a:ext cx="3772800" cy="27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9pPr>
          </a:lstStyle>
          <a:p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subTitle" idx="3"/>
          </p:nvPr>
        </p:nvSpPr>
        <p:spPr>
          <a:xfrm>
            <a:off x="720000" y="1451250"/>
            <a:ext cx="3772800" cy="36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88" name="Google Shape;88;p17"/>
          <p:cNvSpPr txBox="1">
            <a:spLocks noGrp="1"/>
          </p:cNvSpPr>
          <p:nvPr>
            <p:ph type="subTitle" idx="4"/>
          </p:nvPr>
        </p:nvSpPr>
        <p:spPr>
          <a:xfrm>
            <a:off x="4651268" y="1451250"/>
            <a:ext cx="3772800" cy="36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" name="Google Shape;91;p18"/>
          <p:cNvGrpSpPr/>
          <p:nvPr/>
        </p:nvGrpSpPr>
        <p:grpSpPr>
          <a:xfrm>
            <a:off x="232200" y="-49400"/>
            <a:ext cx="8679000" cy="5250800"/>
            <a:chOff x="232200" y="-49400"/>
            <a:chExt cx="8679000" cy="5250800"/>
          </a:xfrm>
        </p:grpSpPr>
        <p:grpSp>
          <p:nvGrpSpPr>
            <p:cNvPr id="92" name="Google Shape;92;p18"/>
            <p:cNvGrpSpPr/>
            <p:nvPr/>
          </p:nvGrpSpPr>
          <p:grpSpPr>
            <a:xfrm>
              <a:off x="232200" y="-49400"/>
              <a:ext cx="8679000" cy="5250800"/>
              <a:chOff x="232200" y="-49400"/>
              <a:chExt cx="8679000" cy="5250800"/>
            </a:xfrm>
          </p:grpSpPr>
          <p:sp>
            <p:nvSpPr>
              <p:cNvPr id="93" name="Google Shape;93;p18"/>
              <p:cNvSpPr/>
              <p:nvPr/>
            </p:nvSpPr>
            <p:spPr>
              <a:xfrm>
                <a:off x="232200" y="232800"/>
                <a:ext cx="8679000" cy="4684500"/>
              </a:xfrm>
              <a:prstGeom prst="rect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94" name="Google Shape;94;p18"/>
              <p:cNvCxnSpPr/>
              <p:nvPr/>
            </p:nvCxnSpPr>
            <p:spPr>
              <a:xfrm rot="10800000">
                <a:off x="8911200" y="-494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5" name="Google Shape;95;p18"/>
              <p:cNvCxnSpPr/>
              <p:nvPr/>
            </p:nvCxnSpPr>
            <p:spPr>
              <a:xfrm rot="10800000">
                <a:off x="232200" y="49173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96" name="Google Shape;96;p18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7" name="Google Shape;97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0" name="Google Shape;100;p19"/>
          <p:cNvGrpSpPr/>
          <p:nvPr/>
        </p:nvGrpSpPr>
        <p:grpSpPr>
          <a:xfrm>
            <a:off x="-19050" y="-16000"/>
            <a:ext cx="8930250" cy="4933300"/>
            <a:chOff x="-19050" y="-16000"/>
            <a:chExt cx="8930250" cy="4933300"/>
          </a:xfrm>
        </p:grpSpPr>
        <p:sp>
          <p:nvSpPr>
            <p:cNvPr id="101" name="Google Shape;101;p19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02" name="Google Shape;102;p19"/>
            <p:cNvCxnSpPr/>
            <p:nvPr/>
          </p:nvCxnSpPr>
          <p:spPr>
            <a:xfrm rot="10800000">
              <a:off x="-19050" y="4917300"/>
              <a:ext cx="258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" name="Google Shape;103;p19"/>
            <p:cNvCxnSpPr/>
            <p:nvPr/>
          </p:nvCxnSpPr>
          <p:spPr>
            <a:xfrm rot="10800000">
              <a:off x="8911200" y="-16000"/>
              <a:ext cx="0" cy="2589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720000" y="448050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subTitle" idx="1"/>
          </p:nvPr>
        </p:nvSpPr>
        <p:spPr>
          <a:xfrm>
            <a:off x="1733625" y="1361025"/>
            <a:ext cx="6580200" cy="29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/>
          <p:nvPr/>
        </p:nvSpPr>
        <p:spPr>
          <a:xfrm>
            <a:off x="2007375" y="2776900"/>
            <a:ext cx="5143500" cy="514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8" name="Google Shape;108;p20"/>
          <p:cNvGrpSpPr/>
          <p:nvPr/>
        </p:nvGrpSpPr>
        <p:grpSpPr>
          <a:xfrm>
            <a:off x="-25" y="533550"/>
            <a:ext cx="9270975" cy="4075025"/>
            <a:chOff x="-25" y="533550"/>
            <a:chExt cx="9270975" cy="4075025"/>
          </a:xfrm>
        </p:grpSpPr>
        <p:sp>
          <p:nvSpPr>
            <p:cNvPr id="109" name="Google Shape;109;p20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8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endParaRPr>
            </a:p>
          </p:txBody>
        </p:sp>
        <p:cxnSp>
          <p:nvCxnSpPr>
            <p:cNvPr id="110" name="Google Shape;110;p20"/>
            <p:cNvCxnSpPr/>
            <p:nvPr/>
          </p:nvCxnSpPr>
          <p:spPr>
            <a:xfrm rot="10800000">
              <a:off x="8430950" y="533550"/>
              <a:ext cx="840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1" name="Google Shape;111;p20"/>
            <p:cNvCxnSpPr/>
            <p:nvPr/>
          </p:nvCxnSpPr>
          <p:spPr>
            <a:xfrm rot="10800000">
              <a:off x="-25" y="4608575"/>
              <a:ext cx="7407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2" name="Google Shape;112;p20"/>
          <p:cNvSpPr txBox="1">
            <a:spLocks noGrp="1"/>
          </p:cNvSpPr>
          <p:nvPr>
            <p:ph type="title"/>
          </p:nvPr>
        </p:nvSpPr>
        <p:spPr>
          <a:xfrm>
            <a:off x="1644450" y="1733400"/>
            <a:ext cx="5855100" cy="7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3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/>
          <p:nvPr/>
        </p:nvSpPr>
        <p:spPr>
          <a:xfrm>
            <a:off x="-2613450" y="-126025"/>
            <a:ext cx="5402100" cy="5402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5" name="Google Shape;115;p21"/>
          <p:cNvGrpSpPr/>
          <p:nvPr/>
        </p:nvGrpSpPr>
        <p:grpSpPr>
          <a:xfrm>
            <a:off x="727425" y="-49275"/>
            <a:ext cx="7703400" cy="5243325"/>
            <a:chOff x="727425" y="-49275"/>
            <a:chExt cx="7703400" cy="5243325"/>
          </a:xfrm>
        </p:grpSpPr>
        <p:sp>
          <p:nvSpPr>
            <p:cNvPr id="116" name="Google Shape;116;p21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17" name="Google Shape;117;p21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8" name="Google Shape;118;p21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9" name="Google Shape;119;p21"/>
          <p:cNvSpPr txBox="1">
            <a:spLocks noGrp="1"/>
          </p:cNvSpPr>
          <p:nvPr>
            <p:ph type="title"/>
          </p:nvPr>
        </p:nvSpPr>
        <p:spPr>
          <a:xfrm>
            <a:off x="3496850" y="1021763"/>
            <a:ext cx="4294800" cy="20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1"/>
          <p:cNvSpPr txBox="1">
            <a:spLocks noGrp="1"/>
          </p:cNvSpPr>
          <p:nvPr>
            <p:ph type="subTitle" idx="1"/>
          </p:nvPr>
        </p:nvSpPr>
        <p:spPr>
          <a:xfrm>
            <a:off x="3496850" y="3117038"/>
            <a:ext cx="4294800" cy="10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22"/>
          <p:cNvSpPr txBox="1">
            <a:spLocks noGrp="1"/>
          </p:cNvSpPr>
          <p:nvPr>
            <p:ph type="title"/>
          </p:nvPr>
        </p:nvSpPr>
        <p:spPr>
          <a:xfrm>
            <a:off x="720000" y="4045175"/>
            <a:ext cx="7710900" cy="563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/>
          <p:nvPr/>
        </p:nvSpPr>
        <p:spPr>
          <a:xfrm>
            <a:off x="-3422975" y="0"/>
            <a:ext cx="5143500" cy="514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6" name="Google Shape;126;p23"/>
          <p:cNvGrpSpPr/>
          <p:nvPr/>
        </p:nvGrpSpPr>
        <p:grpSpPr>
          <a:xfrm>
            <a:off x="727425" y="-382650"/>
            <a:ext cx="7703400" cy="5907300"/>
            <a:chOff x="727425" y="-382650"/>
            <a:chExt cx="7703400" cy="5907300"/>
          </a:xfrm>
        </p:grpSpPr>
        <p:sp>
          <p:nvSpPr>
            <p:cNvPr id="127" name="Google Shape;127;p23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28" name="Google Shape;128;p23"/>
            <p:cNvCxnSpPr/>
            <p:nvPr/>
          </p:nvCxnSpPr>
          <p:spPr>
            <a:xfrm>
              <a:off x="727425" y="4608450"/>
              <a:ext cx="0" cy="9162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9" name="Google Shape;129;p23"/>
            <p:cNvCxnSpPr/>
            <p:nvPr/>
          </p:nvCxnSpPr>
          <p:spPr>
            <a:xfrm>
              <a:off x="8430775" y="-382650"/>
              <a:ext cx="0" cy="9162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30" name="Google Shape;130;p23"/>
          <p:cNvSpPr txBox="1">
            <a:spLocks noGrp="1"/>
          </p:cNvSpPr>
          <p:nvPr>
            <p:ph type="title" hasCustomPrompt="1"/>
          </p:nvPr>
        </p:nvSpPr>
        <p:spPr>
          <a:xfrm>
            <a:off x="2603050" y="1856113"/>
            <a:ext cx="5827800" cy="10245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49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31" name="Google Shape;131;p23"/>
          <p:cNvSpPr txBox="1">
            <a:spLocks noGrp="1"/>
          </p:cNvSpPr>
          <p:nvPr>
            <p:ph type="subTitle" idx="1"/>
          </p:nvPr>
        </p:nvSpPr>
        <p:spPr>
          <a:xfrm>
            <a:off x="2603050" y="2880588"/>
            <a:ext cx="5827800" cy="40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/>
          <p:nvPr/>
        </p:nvSpPr>
        <p:spPr>
          <a:xfrm>
            <a:off x="-941925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5" name="Google Shape;135;p25"/>
          <p:cNvGrpSpPr/>
          <p:nvPr/>
        </p:nvGrpSpPr>
        <p:grpSpPr>
          <a:xfrm>
            <a:off x="-19050" y="232800"/>
            <a:ext cx="9189150" cy="4684500"/>
            <a:chOff x="-19050" y="232800"/>
            <a:chExt cx="9189150" cy="4684500"/>
          </a:xfrm>
        </p:grpSpPr>
        <p:sp>
          <p:nvSpPr>
            <p:cNvPr id="136" name="Google Shape;136;p25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37" name="Google Shape;137;p25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8" name="Google Shape;138;p25"/>
            <p:cNvCxnSpPr/>
            <p:nvPr/>
          </p:nvCxnSpPr>
          <p:spPr>
            <a:xfrm rot="10800000">
              <a:off x="8911200" y="4917300"/>
              <a:ext cx="258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39" name="Google Shape;139;p25"/>
          <p:cNvSpPr txBox="1">
            <a:spLocks noGrp="1"/>
          </p:cNvSpPr>
          <p:nvPr>
            <p:ph type="title"/>
          </p:nvPr>
        </p:nvSpPr>
        <p:spPr>
          <a:xfrm>
            <a:off x="6632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5"/>
          <p:cNvSpPr txBox="1">
            <a:spLocks noGrp="1"/>
          </p:cNvSpPr>
          <p:nvPr>
            <p:ph type="subTitle" idx="1"/>
          </p:nvPr>
        </p:nvSpPr>
        <p:spPr>
          <a:xfrm>
            <a:off x="788675" y="21058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25"/>
          <p:cNvSpPr txBox="1">
            <a:spLocks noGrp="1"/>
          </p:cNvSpPr>
          <p:nvPr>
            <p:ph type="subTitle" idx="2"/>
          </p:nvPr>
        </p:nvSpPr>
        <p:spPr>
          <a:xfrm>
            <a:off x="788675" y="3772552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5"/>
          <p:cNvSpPr txBox="1">
            <a:spLocks noGrp="1"/>
          </p:cNvSpPr>
          <p:nvPr>
            <p:ph type="subTitle" idx="3"/>
          </p:nvPr>
        </p:nvSpPr>
        <p:spPr>
          <a:xfrm>
            <a:off x="3418500" y="3772552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5"/>
          <p:cNvSpPr txBox="1">
            <a:spLocks noGrp="1"/>
          </p:cNvSpPr>
          <p:nvPr>
            <p:ph type="subTitle" idx="4"/>
          </p:nvPr>
        </p:nvSpPr>
        <p:spPr>
          <a:xfrm>
            <a:off x="3418500" y="21058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25"/>
          <p:cNvSpPr txBox="1">
            <a:spLocks noGrp="1"/>
          </p:cNvSpPr>
          <p:nvPr>
            <p:ph type="title" idx="5" hasCustomPrompt="1"/>
          </p:nvPr>
        </p:nvSpPr>
        <p:spPr>
          <a:xfrm>
            <a:off x="919575" y="1319650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5" name="Google Shape;145;p25"/>
          <p:cNvSpPr txBox="1">
            <a:spLocks noGrp="1"/>
          </p:cNvSpPr>
          <p:nvPr>
            <p:ph type="title" idx="6" hasCustomPrompt="1"/>
          </p:nvPr>
        </p:nvSpPr>
        <p:spPr>
          <a:xfrm>
            <a:off x="3509050" y="2977575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6" name="Google Shape;146;p25"/>
          <p:cNvSpPr txBox="1">
            <a:spLocks noGrp="1"/>
          </p:cNvSpPr>
          <p:nvPr>
            <p:ph type="title" idx="7" hasCustomPrompt="1"/>
          </p:nvPr>
        </p:nvSpPr>
        <p:spPr>
          <a:xfrm>
            <a:off x="919575" y="2977575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7" name="Google Shape;147;p25"/>
          <p:cNvSpPr txBox="1">
            <a:spLocks noGrp="1"/>
          </p:cNvSpPr>
          <p:nvPr>
            <p:ph type="title" idx="8" hasCustomPrompt="1"/>
          </p:nvPr>
        </p:nvSpPr>
        <p:spPr>
          <a:xfrm>
            <a:off x="3528275" y="1319650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8" name="Google Shape;148;p25"/>
          <p:cNvSpPr txBox="1">
            <a:spLocks noGrp="1"/>
          </p:cNvSpPr>
          <p:nvPr>
            <p:ph type="subTitle" idx="9"/>
          </p:nvPr>
        </p:nvSpPr>
        <p:spPr>
          <a:xfrm>
            <a:off x="6048325" y="3772552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5"/>
          <p:cNvSpPr txBox="1">
            <a:spLocks noGrp="1"/>
          </p:cNvSpPr>
          <p:nvPr>
            <p:ph type="subTitle" idx="13"/>
          </p:nvPr>
        </p:nvSpPr>
        <p:spPr>
          <a:xfrm>
            <a:off x="6048325" y="21058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25"/>
          <p:cNvSpPr txBox="1">
            <a:spLocks noGrp="1"/>
          </p:cNvSpPr>
          <p:nvPr>
            <p:ph type="title" idx="14" hasCustomPrompt="1"/>
          </p:nvPr>
        </p:nvSpPr>
        <p:spPr>
          <a:xfrm>
            <a:off x="6136975" y="2977575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1" name="Google Shape;151;p25"/>
          <p:cNvSpPr txBox="1">
            <a:spLocks noGrp="1"/>
          </p:cNvSpPr>
          <p:nvPr>
            <p:ph type="title" idx="15" hasCustomPrompt="1"/>
          </p:nvPr>
        </p:nvSpPr>
        <p:spPr>
          <a:xfrm>
            <a:off x="6136975" y="1319650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2" name="Google Shape;152;p25"/>
          <p:cNvSpPr txBox="1">
            <a:spLocks noGrp="1"/>
          </p:cNvSpPr>
          <p:nvPr>
            <p:ph type="subTitle" idx="16"/>
          </p:nvPr>
        </p:nvSpPr>
        <p:spPr>
          <a:xfrm>
            <a:off x="788675" y="1848775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153" name="Google Shape;153;p25"/>
          <p:cNvSpPr txBox="1">
            <a:spLocks noGrp="1"/>
          </p:cNvSpPr>
          <p:nvPr>
            <p:ph type="subTitle" idx="17"/>
          </p:nvPr>
        </p:nvSpPr>
        <p:spPr>
          <a:xfrm>
            <a:off x="788675" y="3503023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154" name="Google Shape;154;p25"/>
          <p:cNvSpPr txBox="1">
            <a:spLocks noGrp="1"/>
          </p:cNvSpPr>
          <p:nvPr>
            <p:ph type="subTitle" idx="18"/>
          </p:nvPr>
        </p:nvSpPr>
        <p:spPr>
          <a:xfrm>
            <a:off x="3418500" y="3503023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155" name="Google Shape;155;p25"/>
          <p:cNvSpPr txBox="1">
            <a:spLocks noGrp="1"/>
          </p:cNvSpPr>
          <p:nvPr>
            <p:ph type="subTitle" idx="19"/>
          </p:nvPr>
        </p:nvSpPr>
        <p:spPr>
          <a:xfrm>
            <a:off x="3418500" y="1848775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156" name="Google Shape;156;p25"/>
          <p:cNvSpPr txBox="1">
            <a:spLocks noGrp="1"/>
          </p:cNvSpPr>
          <p:nvPr>
            <p:ph type="subTitle" idx="20"/>
          </p:nvPr>
        </p:nvSpPr>
        <p:spPr>
          <a:xfrm>
            <a:off x="6048325" y="3503023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157" name="Google Shape;157;p25"/>
          <p:cNvSpPr txBox="1">
            <a:spLocks noGrp="1"/>
          </p:cNvSpPr>
          <p:nvPr>
            <p:ph type="subTitle" idx="21"/>
          </p:nvPr>
        </p:nvSpPr>
        <p:spPr>
          <a:xfrm>
            <a:off x="6048325" y="1848775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"/>
          <p:cNvSpPr/>
          <p:nvPr/>
        </p:nvSpPr>
        <p:spPr>
          <a:xfrm>
            <a:off x="-2125550" y="3018625"/>
            <a:ext cx="4243200" cy="4243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0" name="Google Shape;160;p26"/>
          <p:cNvGrpSpPr/>
          <p:nvPr/>
        </p:nvGrpSpPr>
        <p:grpSpPr>
          <a:xfrm>
            <a:off x="727425" y="-29250"/>
            <a:ext cx="8550550" cy="4637825"/>
            <a:chOff x="727425" y="-29250"/>
            <a:chExt cx="8550550" cy="4637825"/>
          </a:xfrm>
        </p:grpSpPr>
        <p:sp>
          <p:nvSpPr>
            <p:cNvPr id="161" name="Google Shape;161;p26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62" name="Google Shape;162;p26"/>
            <p:cNvCxnSpPr/>
            <p:nvPr/>
          </p:nvCxnSpPr>
          <p:spPr>
            <a:xfrm rot="10800000">
              <a:off x="727425" y="-29250"/>
              <a:ext cx="0" cy="562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3" name="Google Shape;163;p26"/>
            <p:cNvCxnSpPr/>
            <p:nvPr/>
          </p:nvCxnSpPr>
          <p:spPr>
            <a:xfrm>
              <a:off x="8430775" y="4608575"/>
              <a:ext cx="8472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64" name="Google Shape;164;p26"/>
          <p:cNvSpPr txBox="1">
            <a:spLocks noGrp="1"/>
          </p:cNvSpPr>
          <p:nvPr>
            <p:ph type="title"/>
          </p:nvPr>
        </p:nvSpPr>
        <p:spPr>
          <a:xfrm>
            <a:off x="2212125" y="2464650"/>
            <a:ext cx="59139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65" name="Google Shape;165;p26"/>
          <p:cNvSpPr txBox="1">
            <a:spLocks noGrp="1"/>
          </p:cNvSpPr>
          <p:nvPr>
            <p:ph type="subTitle" idx="1"/>
          </p:nvPr>
        </p:nvSpPr>
        <p:spPr>
          <a:xfrm>
            <a:off x="2212125" y="838350"/>
            <a:ext cx="5913900" cy="162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9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/>
          <p:nvPr/>
        </p:nvSpPr>
        <p:spPr>
          <a:xfrm>
            <a:off x="35528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8" name="Google Shape;168;p27"/>
          <p:cNvGrpSpPr/>
          <p:nvPr/>
        </p:nvGrpSpPr>
        <p:grpSpPr>
          <a:xfrm>
            <a:off x="-50475" y="232800"/>
            <a:ext cx="8961675" cy="4684500"/>
            <a:chOff x="-50475" y="232800"/>
            <a:chExt cx="8961675" cy="4684500"/>
          </a:xfrm>
        </p:grpSpPr>
        <p:sp>
          <p:nvSpPr>
            <p:cNvPr id="169" name="Google Shape;169;p27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70" name="Google Shape;170;p27"/>
            <p:cNvCxnSpPr/>
            <p:nvPr/>
          </p:nvCxnSpPr>
          <p:spPr>
            <a:xfrm rot="10800000">
              <a:off x="-50475" y="232800"/>
              <a:ext cx="309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71" name="Google Shape;171;p27"/>
          <p:cNvSpPr txBox="1">
            <a:spLocks noGrp="1"/>
          </p:cNvSpPr>
          <p:nvPr>
            <p:ph type="title"/>
          </p:nvPr>
        </p:nvSpPr>
        <p:spPr>
          <a:xfrm>
            <a:off x="720000" y="1203900"/>
            <a:ext cx="3198300" cy="15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27"/>
          <p:cNvSpPr txBox="1">
            <a:spLocks noGrp="1"/>
          </p:cNvSpPr>
          <p:nvPr>
            <p:ph type="subTitle" idx="1"/>
          </p:nvPr>
        </p:nvSpPr>
        <p:spPr>
          <a:xfrm>
            <a:off x="720000" y="2706062"/>
            <a:ext cx="3198300" cy="14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27"/>
          <p:cNvSpPr>
            <a:spLocks noGrp="1"/>
          </p:cNvSpPr>
          <p:nvPr>
            <p:ph type="pic" idx="2"/>
          </p:nvPr>
        </p:nvSpPr>
        <p:spPr>
          <a:xfrm>
            <a:off x="4494050" y="0"/>
            <a:ext cx="4650000" cy="51435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/>
          <p:nvPr/>
        </p:nvSpPr>
        <p:spPr>
          <a:xfrm>
            <a:off x="-923000" y="-9455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6" name="Google Shape;176;p28"/>
          <p:cNvGrpSpPr/>
          <p:nvPr/>
        </p:nvGrpSpPr>
        <p:grpSpPr>
          <a:xfrm>
            <a:off x="-19050" y="232800"/>
            <a:ext cx="9176275" cy="4684500"/>
            <a:chOff x="-19050" y="232800"/>
            <a:chExt cx="9176275" cy="4684500"/>
          </a:xfrm>
        </p:grpSpPr>
        <p:sp>
          <p:nvSpPr>
            <p:cNvPr id="177" name="Google Shape;177;p28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78" name="Google Shape;178;p28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9" name="Google Shape;179;p28"/>
            <p:cNvCxnSpPr/>
            <p:nvPr/>
          </p:nvCxnSpPr>
          <p:spPr>
            <a:xfrm>
              <a:off x="8917525" y="4917300"/>
              <a:ext cx="2397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80" name="Google Shape;180;p28"/>
          <p:cNvSpPr txBox="1">
            <a:spLocks noGrp="1"/>
          </p:cNvSpPr>
          <p:nvPr>
            <p:ph type="title"/>
          </p:nvPr>
        </p:nvSpPr>
        <p:spPr>
          <a:xfrm>
            <a:off x="878875" y="1533125"/>
            <a:ext cx="3024900" cy="64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28"/>
          <p:cNvSpPr txBox="1">
            <a:spLocks noGrp="1"/>
          </p:cNvSpPr>
          <p:nvPr>
            <p:ph type="subTitle" idx="1"/>
          </p:nvPr>
        </p:nvSpPr>
        <p:spPr>
          <a:xfrm>
            <a:off x="878875" y="2175300"/>
            <a:ext cx="3024900" cy="12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0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4" name="Google Shape;184;p29"/>
          <p:cNvGrpSpPr/>
          <p:nvPr/>
        </p:nvGrpSpPr>
        <p:grpSpPr>
          <a:xfrm>
            <a:off x="232200" y="232800"/>
            <a:ext cx="8937900" cy="4932875"/>
            <a:chOff x="232200" y="232800"/>
            <a:chExt cx="8937900" cy="4932875"/>
          </a:xfrm>
        </p:grpSpPr>
        <p:sp>
          <p:nvSpPr>
            <p:cNvPr id="185" name="Google Shape;185;p29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86" name="Google Shape;186;p29"/>
            <p:cNvCxnSpPr/>
            <p:nvPr/>
          </p:nvCxnSpPr>
          <p:spPr>
            <a:xfrm rot="10800000">
              <a:off x="8911200" y="232800"/>
              <a:ext cx="258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7" name="Google Shape;187;p29"/>
            <p:cNvCxnSpPr/>
            <p:nvPr/>
          </p:nvCxnSpPr>
          <p:spPr>
            <a:xfrm>
              <a:off x="233525" y="4913075"/>
              <a:ext cx="0" cy="252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88" name="Google Shape;188;p29"/>
          <p:cNvSpPr txBox="1">
            <a:spLocks noGrp="1"/>
          </p:cNvSpPr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89" name="Google Shape;189;p29"/>
          <p:cNvSpPr txBox="1">
            <a:spLocks noGrp="1"/>
          </p:cNvSpPr>
          <p:nvPr>
            <p:ph type="subTitle" idx="1"/>
          </p:nvPr>
        </p:nvSpPr>
        <p:spPr>
          <a:xfrm>
            <a:off x="713250" y="1017725"/>
            <a:ext cx="7717500" cy="8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10_1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/>
          <p:nvPr/>
        </p:nvSpPr>
        <p:spPr>
          <a:xfrm>
            <a:off x="7069475" y="3282725"/>
            <a:ext cx="3701700" cy="3701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2" name="Google Shape;192;p30"/>
          <p:cNvGrpSpPr/>
          <p:nvPr/>
        </p:nvGrpSpPr>
        <p:grpSpPr>
          <a:xfrm>
            <a:off x="-19050" y="232800"/>
            <a:ext cx="8930250" cy="5117250"/>
            <a:chOff x="-19050" y="232800"/>
            <a:chExt cx="8930250" cy="5117250"/>
          </a:xfrm>
        </p:grpSpPr>
        <p:sp>
          <p:nvSpPr>
            <p:cNvPr id="193" name="Google Shape;193;p30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94" name="Google Shape;194;p30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5" name="Google Shape;195;p30"/>
            <p:cNvCxnSpPr/>
            <p:nvPr/>
          </p:nvCxnSpPr>
          <p:spPr>
            <a:xfrm rot="10800000">
              <a:off x="8911200" y="4917150"/>
              <a:ext cx="0" cy="4329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6" name="Google Shape;196;p30"/>
          <p:cNvSpPr txBox="1">
            <a:spLocks noGrp="1"/>
          </p:cNvSpPr>
          <p:nvPr>
            <p:ph type="title"/>
          </p:nvPr>
        </p:nvSpPr>
        <p:spPr>
          <a:xfrm>
            <a:off x="722326" y="445025"/>
            <a:ext cx="7708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97" name="Google Shape;197;p30"/>
          <p:cNvSpPr txBox="1">
            <a:spLocks noGrp="1"/>
          </p:cNvSpPr>
          <p:nvPr>
            <p:ph type="subTitle" idx="1"/>
          </p:nvPr>
        </p:nvSpPr>
        <p:spPr>
          <a:xfrm>
            <a:off x="713175" y="1421525"/>
            <a:ext cx="5945400" cy="260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0" name="Google Shape;200;p31"/>
          <p:cNvGrpSpPr/>
          <p:nvPr/>
        </p:nvGrpSpPr>
        <p:grpSpPr>
          <a:xfrm>
            <a:off x="232200" y="232800"/>
            <a:ext cx="8988300" cy="5000100"/>
            <a:chOff x="232200" y="232800"/>
            <a:chExt cx="8988300" cy="5000100"/>
          </a:xfrm>
        </p:grpSpPr>
        <p:sp>
          <p:nvSpPr>
            <p:cNvPr id="201" name="Google Shape;201;p31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02" name="Google Shape;202;p31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3" name="Google Shape;203;p31"/>
            <p:cNvCxnSpPr/>
            <p:nvPr/>
          </p:nvCxnSpPr>
          <p:spPr>
            <a:xfrm>
              <a:off x="233525" y="4917300"/>
              <a:ext cx="0" cy="31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4" name="Google Shape;204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31"/>
          <p:cNvSpPr txBox="1">
            <a:spLocks noGrp="1"/>
          </p:cNvSpPr>
          <p:nvPr>
            <p:ph type="subTitle" idx="1"/>
          </p:nvPr>
        </p:nvSpPr>
        <p:spPr>
          <a:xfrm>
            <a:off x="977801" y="2514225"/>
            <a:ext cx="2242500" cy="9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31"/>
          <p:cNvSpPr txBox="1">
            <a:spLocks noGrp="1"/>
          </p:cNvSpPr>
          <p:nvPr>
            <p:ph type="subTitle" idx="2"/>
          </p:nvPr>
        </p:nvSpPr>
        <p:spPr>
          <a:xfrm>
            <a:off x="3450748" y="2514225"/>
            <a:ext cx="2242500" cy="9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31"/>
          <p:cNvSpPr txBox="1">
            <a:spLocks noGrp="1"/>
          </p:cNvSpPr>
          <p:nvPr>
            <p:ph type="subTitle" idx="3"/>
          </p:nvPr>
        </p:nvSpPr>
        <p:spPr>
          <a:xfrm>
            <a:off x="5923698" y="2514225"/>
            <a:ext cx="2242500" cy="9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31"/>
          <p:cNvSpPr txBox="1">
            <a:spLocks noGrp="1"/>
          </p:cNvSpPr>
          <p:nvPr>
            <p:ph type="subTitle" idx="4"/>
          </p:nvPr>
        </p:nvSpPr>
        <p:spPr>
          <a:xfrm>
            <a:off x="977803" y="2285625"/>
            <a:ext cx="22425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209" name="Google Shape;209;p31"/>
          <p:cNvSpPr txBox="1">
            <a:spLocks noGrp="1"/>
          </p:cNvSpPr>
          <p:nvPr>
            <p:ph type="subTitle" idx="5"/>
          </p:nvPr>
        </p:nvSpPr>
        <p:spPr>
          <a:xfrm>
            <a:off x="3450747" y="2285625"/>
            <a:ext cx="22425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210" name="Google Shape;210;p31"/>
          <p:cNvSpPr txBox="1">
            <a:spLocks noGrp="1"/>
          </p:cNvSpPr>
          <p:nvPr>
            <p:ph type="subTitle" idx="6"/>
          </p:nvPr>
        </p:nvSpPr>
        <p:spPr>
          <a:xfrm>
            <a:off x="5923697" y="2285625"/>
            <a:ext cx="22425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_1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2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3" name="Google Shape;213;p32"/>
          <p:cNvGrpSpPr/>
          <p:nvPr/>
        </p:nvGrpSpPr>
        <p:grpSpPr>
          <a:xfrm>
            <a:off x="-725" y="1466925"/>
            <a:ext cx="939900" cy="2326875"/>
            <a:chOff x="-725" y="1466925"/>
            <a:chExt cx="939900" cy="2326875"/>
          </a:xfrm>
        </p:grpSpPr>
        <p:cxnSp>
          <p:nvCxnSpPr>
            <p:cNvPr id="214" name="Google Shape;214;p32"/>
            <p:cNvCxnSpPr/>
            <p:nvPr/>
          </p:nvCxnSpPr>
          <p:spPr>
            <a:xfrm>
              <a:off x="-725" y="1466925"/>
              <a:ext cx="939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5" name="Google Shape;215;p32"/>
            <p:cNvCxnSpPr/>
            <p:nvPr/>
          </p:nvCxnSpPr>
          <p:spPr>
            <a:xfrm>
              <a:off x="-725" y="2668450"/>
              <a:ext cx="939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6" name="Google Shape;216;p32"/>
            <p:cNvCxnSpPr/>
            <p:nvPr/>
          </p:nvCxnSpPr>
          <p:spPr>
            <a:xfrm>
              <a:off x="-725" y="3793800"/>
              <a:ext cx="939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17" name="Google Shape;217;p32"/>
          <p:cNvGrpSpPr/>
          <p:nvPr/>
        </p:nvGrpSpPr>
        <p:grpSpPr>
          <a:xfrm>
            <a:off x="232200" y="232800"/>
            <a:ext cx="8988300" cy="5000100"/>
            <a:chOff x="232200" y="232800"/>
            <a:chExt cx="8988300" cy="5000100"/>
          </a:xfrm>
        </p:grpSpPr>
        <p:sp>
          <p:nvSpPr>
            <p:cNvPr id="218" name="Google Shape;218;p32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19" name="Google Shape;219;p32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0" name="Google Shape;220;p32"/>
            <p:cNvCxnSpPr/>
            <p:nvPr/>
          </p:nvCxnSpPr>
          <p:spPr>
            <a:xfrm>
              <a:off x="233525" y="4917300"/>
              <a:ext cx="0" cy="31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21" name="Google Shape;221;p32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32"/>
          <p:cNvSpPr txBox="1">
            <a:spLocks noGrp="1"/>
          </p:cNvSpPr>
          <p:nvPr>
            <p:ph type="subTitle" idx="1"/>
          </p:nvPr>
        </p:nvSpPr>
        <p:spPr>
          <a:xfrm>
            <a:off x="1731050" y="1640570"/>
            <a:ext cx="66132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32"/>
          <p:cNvSpPr txBox="1">
            <a:spLocks noGrp="1"/>
          </p:cNvSpPr>
          <p:nvPr>
            <p:ph type="subTitle" idx="2"/>
          </p:nvPr>
        </p:nvSpPr>
        <p:spPr>
          <a:xfrm>
            <a:off x="1731050" y="2800360"/>
            <a:ext cx="66132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32"/>
          <p:cNvSpPr txBox="1">
            <a:spLocks noGrp="1"/>
          </p:cNvSpPr>
          <p:nvPr>
            <p:ph type="subTitle" idx="3"/>
          </p:nvPr>
        </p:nvSpPr>
        <p:spPr>
          <a:xfrm>
            <a:off x="1731050" y="3957450"/>
            <a:ext cx="66132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32"/>
          <p:cNvSpPr txBox="1">
            <a:spLocks noGrp="1"/>
          </p:cNvSpPr>
          <p:nvPr>
            <p:ph type="subTitle" idx="4"/>
          </p:nvPr>
        </p:nvSpPr>
        <p:spPr>
          <a:xfrm>
            <a:off x="1731050" y="1241275"/>
            <a:ext cx="66132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226" name="Google Shape;226;p32"/>
          <p:cNvSpPr txBox="1">
            <a:spLocks noGrp="1"/>
          </p:cNvSpPr>
          <p:nvPr>
            <p:ph type="subTitle" idx="5"/>
          </p:nvPr>
        </p:nvSpPr>
        <p:spPr>
          <a:xfrm>
            <a:off x="1731050" y="2395400"/>
            <a:ext cx="6613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227" name="Google Shape;227;p32"/>
          <p:cNvSpPr txBox="1">
            <a:spLocks noGrp="1"/>
          </p:cNvSpPr>
          <p:nvPr>
            <p:ph type="subTitle" idx="6"/>
          </p:nvPr>
        </p:nvSpPr>
        <p:spPr>
          <a:xfrm>
            <a:off x="1731050" y="3546826"/>
            <a:ext cx="6613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6_1_1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3"/>
          <p:cNvSpPr/>
          <p:nvPr/>
        </p:nvSpPr>
        <p:spPr>
          <a:xfrm>
            <a:off x="8240650" y="-9265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0" name="Google Shape;230;p33"/>
          <p:cNvGrpSpPr/>
          <p:nvPr/>
        </p:nvGrpSpPr>
        <p:grpSpPr>
          <a:xfrm>
            <a:off x="232200" y="-60100"/>
            <a:ext cx="9070200" cy="4977400"/>
            <a:chOff x="232200" y="-60100"/>
            <a:chExt cx="9070200" cy="4977400"/>
          </a:xfrm>
        </p:grpSpPr>
        <p:sp>
          <p:nvSpPr>
            <p:cNvPr id="231" name="Google Shape;231;p33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32" name="Google Shape;232;p33"/>
            <p:cNvCxnSpPr/>
            <p:nvPr/>
          </p:nvCxnSpPr>
          <p:spPr>
            <a:xfrm rot="10800000">
              <a:off x="232200" y="-60100"/>
              <a:ext cx="0" cy="2967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3" name="Google Shape;233;p33"/>
            <p:cNvCxnSpPr/>
            <p:nvPr/>
          </p:nvCxnSpPr>
          <p:spPr>
            <a:xfrm>
              <a:off x="8904900" y="4917300"/>
              <a:ext cx="3975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34" name="Google Shape;234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33"/>
          <p:cNvSpPr txBox="1">
            <a:spLocks noGrp="1"/>
          </p:cNvSpPr>
          <p:nvPr>
            <p:ph type="subTitle" idx="1"/>
          </p:nvPr>
        </p:nvSpPr>
        <p:spPr>
          <a:xfrm>
            <a:off x="2032350" y="1565625"/>
            <a:ext cx="48768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33"/>
          <p:cNvSpPr txBox="1">
            <a:spLocks noGrp="1"/>
          </p:cNvSpPr>
          <p:nvPr>
            <p:ph type="subTitle" idx="2"/>
          </p:nvPr>
        </p:nvSpPr>
        <p:spPr>
          <a:xfrm>
            <a:off x="2641957" y="2723563"/>
            <a:ext cx="48768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33"/>
          <p:cNvSpPr txBox="1">
            <a:spLocks noGrp="1"/>
          </p:cNvSpPr>
          <p:nvPr>
            <p:ph type="subTitle" idx="3"/>
          </p:nvPr>
        </p:nvSpPr>
        <p:spPr>
          <a:xfrm>
            <a:off x="3251557" y="3881500"/>
            <a:ext cx="48768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p33"/>
          <p:cNvSpPr txBox="1">
            <a:spLocks noGrp="1"/>
          </p:cNvSpPr>
          <p:nvPr>
            <p:ph type="subTitle" idx="4"/>
          </p:nvPr>
        </p:nvSpPr>
        <p:spPr>
          <a:xfrm>
            <a:off x="2032350" y="1253625"/>
            <a:ext cx="48768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239" name="Google Shape;239;p33"/>
          <p:cNvSpPr txBox="1">
            <a:spLocks noGrp="1"/>
          </p:cNvSpPr>
          <p:nvPr>
            <p:ph type="subTitle" idx="5"/>
          </p:nvPr>
        </p:nvSpPr>
        <p:spPr>
          <a:xfrm>
            <a:off x="2641950" y="2412275"/>
            <a:ext cx="48768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240" name="Google Shape;240;p33"/>
          <p:cNvSpPr txBox="1">
            <a:spLocks noGrp="1"/>
          </p:cNvSpPr>
          <p:nvPr>
            <p:ph type="subTitle" idx="6"/>
          </p:nvPr>
        </p:nvSpPr>
        <p:spPr>
          <a:xfrm>
            <a:off x="3251550" y="3570925"/>
            <a:ext cx="48768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4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3" name="Google Shape;243;p34"/>
          <p:cNvGrpSpPr/>
          <p:nvPr/>
        </p:nvGrpSpPr>
        <p:grpSpPr>
          <a:xfrm>
            <a:off x="-19050" y="232800"/>
            <a:ext cx="9189150" cy="4684500"/>
            <a:chOff x="-19050" y="232800"/>
            <a:chExt cx="9189150" cy="4684500"/>
          </a:xfrm>
        </p:grpSpPr>
        <p:sp>
          <p:nvSpPr>
            <p:cNvPr id="244" name="Google Shape;244;p34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45" name="Google Shape;245;p34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" name="Google Shape;246;p34"/>
            <p:cNvCxnSpPr/>
            <p:nvPr/>
          </p:nvCxnSpPr>
          <p:spPr>
            <a:xfrm rot="10800000">
              <a:off x="8911200" y="4917300"/>
              <a:ext cx="258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47" name="Google Shape;247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34"/>
          <p:cNvSpPr txBox="1">
            <a:spLocks noGrp="1"/>
          </p:cNvSpPr>
          <p:nvPr>
            <p:ph type="subTitle" idx="1"/>
          </p:nvPr>
        </p:nvSpPr>
        <p:spPr>
          <a:xfrm>
            <a:off x="1762571" y="1752725"/>
            <a:ext cx="2687400" cy="9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34"/>
          <p:cNvSpPr txBox="1">
            <a:spLocks noGrp="1"/>
          </p:cNvSpPr>
          <p:nvPr>
            <p:ph type="subTitle" idx="2"/>
          </p:nvPr>
        </p:nvSpPr>
        <p:spPr>
          <a:xfrm>
            <a:off x="5132667" y="1752725"/>
            <a:ext cx="2687400" cy="9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34"/>
          <p:cNvSpPr txBox="1">
            <a:spLocks noGrp="1"/>
          </p:cNvSpPr>
          <p:nvPr>
            <p:ph type="subTitle" idx="3"/>
          </p:nvPr>
        </p:nvSpPr>
        <p:spPr>
          <a:xfrm>
            <a:off x="1762571" y="3336725"/>
            <a:ext cx="2687400" cy="9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1" name="Google Shape;251;p34"/>
          <p:cNvSpPr txBox="1">
            <a:spLocks noGrp="1"/>
          </p:cNvSpPr>
          <p:nvPr>
            <p:ph type="subTitle" idx="4"/>
          </p:nvPr>
        </p:nvSpPr>
        <p:spPr>
          <a:xfrm>
            <a:off x="5132667" y="3336725"/>
            <a:ext cx="2687400" cy="9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2" name="Google Shape;252;p34"/>
          <p:cNvSpPr txBox="1">
            <a:spLocks noGrp="1"/>
          </p:cNvSpPr>
          <p:nvPr>
            <p:ph type="subTitle" idx="5"/>
          </p:nvPr>
        </p:nvSpPr>
        <p:spPr>
          <a:xfrm>
            <a:off x="1762571" y="1524200"/>
            <a:ext cx="2687400" cy="35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253" name="Google Shape;253;p34"/>
          <p:cNvSpPr txBox="1">
            <a:spLocks noGrp="1"/>
          </p:cNvSpPr>
          <p:nvPr>
            <p:ph type="subTitle" idx="6"/>
          </p:nvPr>
        </p:nvSpPr>
        <p:spPr>
          <a:xfrm>
            <a:off x="5132667" y="1524200"/>
            <a:ext cx="2687400" cy="35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254" name="Google Shape;254;p34"/>
          <p:cNvSpPr txBox="1">
            <a:spLocks noGrp="1"/>
          </p:cNvSpPr>
          <p:nvPr>
            <p:ph type="subTitle" idx="7"/>
          </p:nvPr>
        </p:nvSpPr>
        <p:spPr>
          <a:xfrm>
            <a:off x="1762571" y="3091838"/>
            <a:ext cx="2687400" cy="35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255" name="Google Shape;255;p34"/>
          <p:cNvSpPr txBox="1">
            <a:spLocks noGrp="1"/>
          </p:cNvSpPr>
          <p:nvPr>
            <p:ph type="subTitle" idx="8"/>
          </p:nvPr>
        </p:nvSpPr>
        <p:spPr>
          <a:xfrm>
            <a:off x="5132667" y="3091838"/>
            <a:ext cx="2687400" cy="35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_1"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5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8" name="Google Shape;258;p35"/>
          <p:cNvGrpSpPr/>
          <p:nvPr/>
        </p:nvGrpSpPr>
        <p:grpSpPr>
          <a:xfrm>
            <a:off x="232200" y="232800"/>
            <a:ext cx="8988300" cy="5000100"/>
            <a:chOff x="232200" y="232800"/>
            <a:chExt cx="8988300" cy="5000100"/>
          </a:xfrm>
        </p:grpSpPr>
        <p:sp>
          <p:nvSpPr>
            <p:cNvPr id="259" name="Google Shape;259;p35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60" name="Google Shape;260;p35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1" name="Google Shape;261;p35"/>
            <p:cNvCxnSpPr/>
            <p:nvPr/>
          </p:nvCxnSpPr>
          <p:spPr>
            <a:xfrm>
              <a:off x="233525" y="4917300"/>
              <a:ext cx="0" cy="31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62" name="Google Shape;262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p35"/>
          <p:cNvSpPr txBox="1">
            <a:spLocks noGrp="1"/>
          </p:cNvSpPr>
          <p:nvPr>
            <p:ph type="subTitle" idx="1"/>
          </p:nvPr>
        </p:nvSpPr>
        <p:spPr>
          <a:xfrm>
            <a:off x="874134" y="2145979"/>
            <a:ext cx="2199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4" name="Google Shape;264;p35"/>
          <p:cNvSpPr txBox="1">
            <a:spLocks noGrp="1"/>
          </p:cNvSpPr>
          <p:nvPr>
            <p:ph type="subTitle" idx="2"/>
          </p:nvPr>
        </p:nvSpPr>
        <p:spPr>
          <a:xfrm>
            <a:off x="3319800" y="2145979"/>
            <a:ext cx="2199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5" name="Google Shape;265;p35"/>
          <p:cNvSpPr txBox="1">
            <a:spLocks noGrp="1"/>
          </p:cNvSpPr>
          <p:nvPr>
            <p:ph type="subTitle" idx="3"/>
          </p:nvPr>
        </p:nvSpPr>
        <p:spPr>
          <a:xfrm>
            <a:off x="874134" y="3635775"/>
            <a:ext cx="2199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6" name="Google Shape;266;p35"/>
          <p:cNvSpPr txBox="1">
            <a:spLocks noGrp="1"/>
          </p:cNvSpPr>
          <p:nvPr>
            <p:ph type="subTitle" idx="4"/>
          </p:nvPr>
        </p:nvSpPr>
        <p:spPr>
          <a:xfrm>
            <a:off x="3319800" y="3635775"/>
            <a:ext cx="2199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35"/>
          <p:cNvSpPr txBox="1">
            <a:spLocks noGrp="1"/>
          </p:cNvSpPr>
          <p:nvPr>
            <p:ph type="subTitle" idx="5"/>
          </p:nvPr>
        </p:nvSpPr>
        <p:spPr>
          <a:xfrm>
            <a:off x="5765466" y="2145979"/>
            <a:ext cx="2199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35"/>
          <p:cNvSpPr txBox="1">
            <a:spLocks noGrp="1"/>
          </p:cNvSpPr>
          <p:nvPr>
            <p:ph type="subTitle" idx="6"/>
          </p:nvPr>
        </p:nvSpPr>
        <p:spPr>
          <a:xfrm>
            <a:off x="5765466" y="3635775"/>
            <a:ext cx="2199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p35"/>
          <p:cNvSpPr txBox="1">
            <a:spLocks noGrp="1"/>
          </p:cNvSpPr>
          <p:nvPr>
            <p:ph type="subTitle" idx="7"/>
          </p:nvPr>
        </p:nvSpPr>
        <p:spPr>
          <a:xfrm>
            <a:off x="872334" y="1769325"/>
            <a:ext cx="2203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270" name="Google Shape;270;p35"/>
          <p:cNvSpPr txBox="1">
            <a:spLocks noGrp="1"/>
          </p:cNvSpPr>
          <p:nvPr>
            <p:ph type="subTitle" idx="8"/>
          </p:nvPr>
        </p:nvSpPr>
        <p:spPr>
          <a:xfrm>
            <a:off x="3318000" y="1769325"/>
            <a:ext cx="2203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271" name="Google Shape;271;p35"/>
          <p:cNvSpPr txBox="1">
            <a:spLocks noGrp="1"/>
          </p:cNvSpPr>
          <p:nvPr>
            <p:ph type="subTitle" idx="9"/>
          </p:nvPr>
        </p:nvSpPr>
        <p:spPr>
          <a:xfrm>
            <a:off x="5763666" y="1769325"/>
            <a:ext cx="2203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272" name="Google Shape;272;p35"/>
          <p:cNvSpPr txBox="1">
            <a:spLocks noGrp="1"/>
          </p:cNvSpPr>
          <p:nvPr>
            <p:ph type="subTitle" idx="13"/>
          </p:nvPr>
        </p:nvSpPr>
        <p:spPr>
          <a:xfrm>
            <a:off x="872334" y="3258926"/>
            <a:ext cx="2203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273" name="Google Shape;273;p35"/>
          <p:cNvSpPr txBox="1">
            <a:spLocks noGrp="1"/>
          </p:cNvSpPr>
          <p:nvPr>
            <p:ph type="subTitle" idx="14"/>
          </p:nvPr>
        </p:nvSpPr>
        <p:spPr>
          <a:xfrm>
            <a:off x="3318000" y="3258926"/>
            <a:ext cx="2203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274" name="Google Shape;274;p35"/>
          <p:cNvSpPr txBox="1">
            <a:spLocks noGrp="1"/>
          </p:cNvSpPr>
          <p:nvPr>
            <p:ph type="subTitle" idx="15"/>
          </p:nvPr>
        </p:nvSpPr>
        <p:spPr>
          <a:xfrm>
            <a:off x="5763666" y="3258926"/>
            <a:ext cx="2203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_1"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6"/>
          <p:cNvSpPr/>
          <p:nvPr/>
        </p:nvSpPr>
        <p:spPr>
          <a:xfrm>
            <a:off x="6309175" y="2486975"/>
            <a:ext cx="4243200" cy="4243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7" name="Google Shape;277;p36"/>
          <p:cNvGrpSpPr/>
          <p:nvPr/>
        </p:nvGrpSpPr>
        <p:grpSpPr>
          <a:xfrm>
            <a:off x="-69525" y="539500"/>
            <a:ext cx="9455500" cy="4069200"/>
            <a:chOff x="-69525" y="539500"/>
            <a:chExt cx="9455500" cy="4069200"/>
          </a:xfrm>
        </p:grpSpPr>
        <p:grpSp>
          <p:nvGrpSpPr>
            <p:cNvPr id="278" name="Google Shape;278;p36"/>
            <p:cNvGrpSpPr/>
            <p:nvPr/>
          </p:nvGrpSpPr>
          <p:grpSpPr>
            <a:xfrm>
              <a:off x="713225" y="539500"/>
              <a:ext cx="8672750" cy="4069200"/>
              <a:chOff x="713225" y="539500"/>
              <a:chExt cx="8672750" cy="4069200"/>
            </a:xfrm>
          </p:grpSpPr>
          <p:sp>
            <p:nvSpPr>
              <p:cNvPr id="279" name="Google Shape;279;p36"/>
              <p:cNvSpPr/>
              <p:nvPr/>
            </p:nvSpPr>
            <p:spPr>
              <a:xfrm>
                <a:off x="713225" y="539500"/>
                <a:ext cx="7717500" cy="4069200"/>
              </a:xfrm>
              <a:prstGeom prst="rect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80" name="Google Shape;280;p36"/>
              <p:cNvCxnSpPr/>
              <p:nvPr/>
            </p:nvCxnSpPr>
            <p:spPr>
              <a:xfrm>
                <a:off x="8407675" y="4608575"/>
                <a:ext cx="9783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281" name="Google Shape;281;p36"/>
            <p:cNvCxnSpPr/>
            <p:nvPr/>
          </p:nvCxnSpPr>
          <p:spPr>
            <a:xfrm rot="10800000">
              <a:off x="-69525" y="539500"/>
              <a:ext cx="789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82" name="Google Shape;282;p36"/>
          <p:cNvSpPr txBox="1">
            <a:spLocks noGrp="1"/>
          </p:cNvSpPr>
          <p:nvPr>
            <p:ph type="title" hasCustomPrompt="1"/>
          </p:nvPr>
        </p:nvSpPr>
        <p:spPr>
          <a:xfrm>
            <a:off x="707575" y="539500"/>
            <a:ext cx="4051200" cy="7689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7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83" name="Google Shape;283;p36"/>
          <p:cNvSpPr txBox="1">
            <a:spLocks noGrp="1"/>
          </p:cNvSpPr>
          <p:nvPr>
            <p:ph type="subTitle" idx="1"/>
          </p:nvPr>
        </p:nvSpPr>
        <p:spPr>
          <a:xfrm>
            <a:off x="707575" y="1308392"/>
            <a:ext cx="4051200" cy="4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4" name="Google Shape;284;p36"/>
          <p:cNvSpPr txBox="1">
            <a:spLocks noGrp="1"/>
          </p:cNvSpPr>
          <p:nvPr>
            <p:ph type="title" idx="2" hasCustomPrompt="1"/>
          </p:nvPr>
        </p:nvSpPr>
        <p:spPr>
          <a:xfrm>
            <a:off x="707575" y="1901349"/>
            <a:ext cx="4051200" cy="7689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7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85" name="Google Shape;285;p36"/>
          <p:cNvSpPr txBox="1">
            <a:spLocks noGrp="1"/>
          </p:cNvSpPr>
          <p:nvPr>
            <p:ph type="subTitle" idx="3"/>
          </p:nvPr>
        </p:nvSpPr>
        <p:spPr>
          <a:xfrm>
            <a:off x="707575" y="2670245"/>
            <a:ext cx="4051200" cy="4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6" name="Google Shape;286;p36"/>
          <p:cNvSpPr txBox="1">
            <a:spLocks noGrp="1"/>
          </p:cNvSpPr>
          <p:nvPr>
            <p:ph type="title" idx="4" hasCustomPrompt="1"/>
          </p:nvPr>
        </p:nvSpPr>
        <p:spPr>
          <a:xfrm>
            <a:off x="707575" y="3263198"/>
            <a:ext cx="4051200" cy="7689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7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87" name="Google Shape;287;p36"/>
          <p:cNvSpPr txBox="1">
            <a:spLocks noGrp="1"/>
          </p:cNvSpPr>
          <p:nvPr>
            <p:ph type="subTitle" idx="5"/>
          </p:nvPr>
        </p:nvSpPr>
        <p:spPr>
          <a:xfrm>
            <a:off x="707575" y="4032098"/>
            <a:ext cx="4051200" cy="4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1"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7"/>
          <p:cNvSpPr/>
          <p:nvPr/>
        </p:nvSpPr>
        <p:spPr>
          <a:xfrm>
            <a:off x="8240650" y="-9265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0" name="Google Shape;290;p37"/>
          <p:cNvGrpSpPr/>
          <p:nvPr/>
        </p:nvGrpSpPr>
        <p:grpSpPr>
          <a:xfrm>
            <a:off x="-19050" y="232800"/>
            <a:ext cx="9189150" cy="4684500"/>
            <a:chOff x="-19050" y="232800"/>
            <a:chExt cx="9189150" cy="4684500"/>
          </a:xfrm>
        </p:grpSpPr>
        <p:sp>
          <p:nvSpPr>
            <p:cNvPr id="291" name="Google Shape;291;p37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92" name="Google Shape;292;p37"/>
            <p:cNvCxnSpPr/>
            <p:nvPr/>
          </p:nvCxnSpPr>
          <p:spPr>
            <a:xfrm rot="10800000">
              <a:off x="-19050" y="4917300"/>
              <a:ext cx="258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3" name="Google Shape;293;p37"/>
            <p:cNvCxnSpPr/>
            <p:nvPr/>
          </p:nvCxnSpPr>
          <p:spPr>
            <a:xfrm rot="10800000">
              <a:off x="8911200" y="232800"/>
              <a:ext cx="258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94" name="Google Shape;294;p37"/>
          <p:cNvSpPr txBox="1">
            <a:spLocks noGrp="1"/>
          </p:cNvSpPr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1_1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8"/>
          <p:cNvSpPr/>
          <p:nvPr/>
        </p:nvSpPr>
        <p:spPr>
          <a:xfrm>
            <a:off x="-9243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7" name="Google Shape;297;p38"/>
          <p:cNvGrpSpPr/>
          <p:nvPr/>
        </p:nvGrpSpPr>
        <p:grpSpPr>
          <a:xfrm>
            <a:off x="232200" y="232800"/>
            <a:ext cx="8988300" cy="4964300"/>
            <a:chOff x="232200" y="232800"/>
            <a:chExt cx="8988300" cy="4964300"/>
          </a:xfrm>
        </p:grpSpPr>
        <p:sp>
          <p:nvSpPr>
            <p:cNvPr id="298" name="Google Shape;298;p38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99" name="Google Shape;299;p38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0" name="Google Shape;300;p38"/>
            <p:cNvCxnSpPr/>
            <p:nvPr/>
          </p:nvCxnSpPr>
          <p:spPr>
            <a:xfrm rot="10800000">
              <a:off x="232200" y="4890500"/>
              <a:ext cx="0" cy="306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01" name="Google Shape;301;p38"/>
          <p:cNvSpPr txBox="1">
            <a:spLocks noGrp="1"/>
          </p:cNvSpPr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9"/>
          <p:cNvSpPr/>
          <p:nvPr/>
        </p:nvSpPr>
        <p:spPr>
          <a:xfrm>
            <a:off x="6677100" y="-9050"/>
            <a:ext cx="5161500" cy="51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4" name="Google Shape;304;p39"/>
          <p:cNvGrpSpPr/>
          <p:nvPr/>
        </p:nvGrpSpPr>
        <p:grpSpPr>
          <a:xfrm>
            <a:off x="713223" y="-79050"/>
            <a:ext cx="8791100" cy="4687625"/>
            <a:chOff x="-669332" y="-79050"/>
            <a:chExt cx="10173707" cy="4687625"/>
          </a:xfrm>
        </p:grpSpPr>
        <p:sp>
          <p:nvSpPr>
            <p:cNvPr id="305" name="Google Shape;305;p39"/>
            <p:cNvSpPr/>
            <p:nvPr/>
          </p:nvSpPr>
          <p:spPr>
            <a:xfrm>
              <a:off x="-669325" y="533550"/>
              <a:ext cx="91002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06" name="Google Shape;306;p39"/>
            <p:cNvCxnSpPr/>
            <p:nvPr/>
          </p:nvCxnSpPr>
          <p:spPr>
            <a:xfrm rot="10800000">
              <a:off x="-669332" y="-79050"/>
              <a:ext cx="0" cy="6249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7" name="Google Shape;307;p39"/>
            <p:cNvCxnSpPr/>
            <p:nvPr/>
          </p:nvCxnSpPr>
          <p:spPr>
            <a:xfrm>
              <a:off x="8425275" y="4608575"/>
              <a:ext cx="10791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08" name="Google Shape;308;p39"/>
          <p:cNvSpPr txBox="1">
            <a:spLocks noGrp="1"/>
          </p:cNvSpPr>
          <p:nvPr>
            <p:ph type="title"/>
          </p:nvPr>
        </p:nvSpPr>
        <p:spPr>
          <a:xfrm>
            <a:off x="1094263" y="778325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5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09" name="Google Shape;309;p39"/>
          <p:cNvSpPr txBox="1">
            <a:spLocks noGrp="1"/>
          </p:cNvSpPr>
          <p:nvPr>
            <p:ph type="subTitle" idx="1"/>
          </p:nvPr>
        </p:nvSpPr>
        <p:spPr>
          <a:xfrm>
            <a:off x="1094225" y="1651512"/>
            <a:ext cx="4448100" cy="122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0" name="Google Shape;310;p39"/>
          <p:cNvSpPr txBox="1"/>
          <p:nvPr/>
        </p:nvSpPr>
        <p:spPr>
          <a:xfrm>
            <a:off x="1094225" y="3383825"/>
            <a:ext cx="57972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CREDITS: This presentation template was created by </a:t>
            </a:r>
            <a:r>
              <a:rPr lang="ko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ko" sz="12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</a:t>
            </a:r>
            <a:r>
              <a:rPr lang="ko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and includes icons, infographics &amp; images by </a:t>
            </a:r>
            <a:r>
              <a:rPr lang="ko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ko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sz="1200" b="1" u="sng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0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3" name="Google Shape;313;p40"/>
          <p:cNvGrpSpPr/>
          <p:nvPr/>
        </p:nvGrpSpPr>
        <p:grpSpPr>
          <a:xfrm>
            <a:off x="232200" y="-49400"/>
            <a:ext cx="8679000" cy="5250800"/>
            <a:chOff x="232200" y="-49400"/>
            <a:chExt cx="8679000" cy="5250800"/>
          </a:xfrm>
        </p:grpSpPr>
        <p:sp>
          <p:nvSpPr>
            <p:cNvPr id="314" name="Google Shape;314;p40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15" name="Google Shape;315;p40"/>
            <p:cNvGrpSpPr/>
            <p:nvPr/>
          </p:nvGrpSpPr>
          <p:grpSpPr>
            <a:xfrm>
              <a:off x="232200" y="-49400"/>
              <a:ext cx="8679000" cy="5250800"/>
              <a:chOff x="232200" y="-49400"/>
              <a:chExt cx="8679000" cy="5250800"/>
            </a:xfrm>
          </p:grpSpPr>
          <p:cxnSp>
            <p:nvCxnSpPr>
              <p:cNvPr id="316" name="Google Shape;316;p40"/>
              <p:cNvCxnSpPr/>
              <p:nvPr/>
            </p:nvCxnSpPr>
            <p:spPr>
              <a:xfrm rot="10800000">
                <a:off x="232200" y="-494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7" name="Google Shape;317;p40"/>
              <p:cNvCxnSpPr/>
              <p:nvPr/>
            </p:nvCxnSpPr>
            <p:spPr>
              <a:xfrm rot="10800000">
                <a:off x="8911200" y="49173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1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0" name="Google Shape;320;p41"/>
          <p:cNvGrpSpPr/>
          <p:nvPr/>
        </p:nvGrpSpPr>
        <p:grpSpPr>
          <a:xfrm>
            <a:off x="232200" y="232800"/>
            <a:ext cx="9045000" cy="4975500"/>
            <a:chOff x="232200" y="232800"/>
            <a:chExt cx="9045000" cy="4975500"/>
          </a:xfrm>
        </p:grpSpPr>
        <p:sp>
          <p:nvSpPr>
            <p:cNvPr id="321" name="Google Shape;321;p41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22" name="Google Shape;322;p41"/>
            <p:cNvCxnSpPr/>
            <p:nvPr/>
          </p:nvCxnSpPr>
          <p:spPr>
            <a:xfrm>
              <a:off x="8911200" y="232800"/>
              <a:ext cx="366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3" name="Google Shape;323;p41"/>
            <p:cNvCxnSpPr/>
            <p:nvPr/>
          </p:nvCxnSpPr>
          <p:spPr>
            <a:xfrm>
              <a:off x="232200" y="4917300"/>
              <a:ext cx="1200" cy="2910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 Black"/>
              <a:buNone/>
              <a:defRPr sz="28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hyperlink" Target="https://github.com/2vs5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2"/>
          <p:cNvSpPr txBox="1">
            <a:spLocks noGrp="1"/>
          </p:cNvSpPr>
          <p:nvPr>
            <p:ph type="ctrTitle"/>
          </p:nvPr>
        </p:nvSpPr>
        <p:spPr>
          <a:xfrm>
            <a:off x="933228" y="1306513"/>
            <a:ext cx="5061600" cy="91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4000" b="1" dirty="0">
                <a:latin typeface="+mj-lt"/>
                <a:ea typeface="+mn-ea"/>
                <a:cs typeface="Calibri" panose="020F0502020204030204" pitchFamily="34" charset="0"/>
                <a:sym typeface="Hanken Grotesk Black"/>
              </a:rPr>
              <a:t>Portfolio</a:t>
            </a:r>
            <a:endParaRPr sz="4000" b="1" dirty="0">
              <a:latin typeface="+mj-lt"/>
              <a:ea typeface="Calibri" panose="020F0502020204030204" pitchFamily="34" charset="0"/>
              <a:cs typeface="Calibri" panose="020F0502020204030204" pitchFamily="34" charset="0"/>
              <a:sym typeface="Hanken Grotesk Black"/>
            </a:endParaRPr>
          </a:p>
        </p:txBody>
      </p:sp>
      <p:sp>
        <p:nvSpPr>
          <p:cNvPr id="329" name="Google Shape;329;p42"/>
          <p:cNvSpPr txBox="1">
            <a:spLocks noGrp="1"/>
          </p:cNvSpPr>
          <p:nvPr>
            <p:ph type="subTitle" idx="1"/>
          </p:nvPr>
        </p:nvSpPr>
        <p:spPr>
          <a:xfrm>
            <a:off x="869632" y="2290558"/>
            <a:ext cx="6432860" cy="7656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b="1" dirty="0">
                <a:latin typeface="+mj-lt"/>
                <a:ea typeface="+mj-ea"/>
                <a:cs typeface="Calibri" panose="020F0502020204030204" pitchFamily="34" charset="0"/>
              </a:rPr>
              <a:t>AI/ML </a:t>
            </a:r>
            <a:r>
              <a:rPr lang="ko-KR" altLang="en-US" b="1" dirty="0">
                <a:latin typeface="+mj-lt"/>
                <a:ea typeface="+mj-ea"/>
                <a:cs typeface="Calibri" panose="020F0502020204030204" pitchFamily="34" charset="0"/>
              </a:rPr>
              <a:t>기반</a:t>
            </a:r>
            <a:r>
              <a:rPr lang="en-US" altLang="ko-KR" b="1" dirty="0">
                <a:latin typeface="+mj-lt"/>
                <a:ea typeface="+mj-ea"/>
                <a:cs typeface="Calibri" panose="020F0502020204030204" pitchFamily="34" charset="0"/>
              </a:rPr>
              <a:t> </a:t>
            </a:r>
            <a:r>
              <a:rPr lang="ko-KR" altLang="en-US" b="1" dirty="0">
                <a:latin typeface="+mj-lt"/>
                <a:ea typeface="+mj-ea"/>
                <a:cs typeface="Calibri" panose="020F0502020204030204" pitchFamily="34" charset="0"/>
              </a:rPr>
              <a:t>모델링</a:t>
            </a:r>
            <a:r>
              <a:rPr lang="en-US" altLang="ko-KR" b="1" dirty="0">
                <a:latin typeface="+mj-lt"/>
                <a:ea typeface="+mj-ea"/>
                <a:cs typeface="Calibri" panose="020F0502020204030204" pitchFamily="34" charset="0"/>
              </a:rPr>
              <a:t>, NLP, </a:t>
            </a:r>
            <a:r>
              <a:rPr lang="ko-KR" altLang="en-US" b="1" dirty="0">
                <a:latin typeface="+mj-lt"/>
                <a:ea typeface="+mj-ea"/>
                <a:cs typeface="Calibri" panose="020F0502020204030204" pitchFamily="34" charset="0"/>
              </a:rPr>
              <a:t>데이터 구조화 및 활용 경험</a:t>
            </a:r>
            <a:endParaRPr lang="en-US" altLang="ko-KR" b="1" dirty="0">
              <a:latin typeface="+mj-lt"/>
              <a:ea typeface="+mj-ea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" b="1" dirty="0">
              <a:latin typeface="+mj-lt"/>
              <a:ea typeface="+mj-ea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 dirty="0">
                <a:latin typeface="+mj-lt"/>
                <a:ea typeface="+mj-ea"/>
                <a:cs typeface="Calibri" panose="020F0502020204030204" pitchFamily="34" charset="0"/>
              </a:rPr>
              <a:t>이대호</a:t>
            </a:r>
            <a:endParaRPr sz="1800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0" name="Google Shape;330;p42"/>
          <p:cNvSpPr txBox="1">
            <a:spLocks noGrp="1"/>
          </p:cNvSpPr>
          <p:nvPr>
            <p:ph type="subTitle" idx="1"/>
          </p:nvPr>
        </p:nvSpPr>
        <p:spPr>
          <a:xfrm>
            <a:off x="869632" y="3112549"/>
            <a:ext cx="6305668" cy="7656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b="1" dirty="0">
                <a:latin typeface="+mj-lt"/>
                <a:ea typeface="+mj-ea"/>
                <a:cs typeface="Calibri" panose="020F0502020204030204" pitchFamily="34" charset="0"/>
              </a:rPr>
              <a:t>주요 역량</a:t>
            </a:r>
            <a:endParaRPr b="1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" b="1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-US" altLang="ko" dirty="0">
                <a:latin typeface="+mj-lt"/>
                <a:ea typeface="+mj-ea"/>
                <a:cs typeface="Calibri" panose="020F0502020204030204" pitchFamily="34" charset="0"/>
              </a:rPr>
              <a:t>Machine Learning / NLP / Data Pipeline / Multimodal Analysis</a:t>
            </a:r>
            <a:endParaRPr lang="en-US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352;p44">
            <a:extLst>
              <a:ext uri="{FF2B5EF4-FFF2-40B4-BE49-F238E27FC236}">
                <a16:creationId xmlns:a16="http://schemas.microsoft.com/office/drawing/2014/main" id="{C545F573-ADBC-4BB1-9E93-79FF0401C50B}"/>
              </a:ext>
            </a:extLst>
          </p:cNvPr>
          <p:cNvSpPr txBox="1">
            <a:spLocks/>
          </p:cNvSpPr>
          <p:nvPr/>
        </p:nvSpPr>
        <p:spPr>
          <a:xfrm>
            <a:off x="388838" y="297417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 Black"/>
              <a:buNone/>
              <a:defRPr sz="28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r>
              <a:rPr lang="ko-KR" altLang="en-US" b="1" dirty="0">
                <a:latin typeface="+mj-lt"/>
                <a:ea typeface="+mj-ea"/>
                <a:cs typeface="Hanken Grotesk Black"/>
                <a:sym typeface="Hanken Grotesk Black"/>
              </a:rPr>
              <a:t>학업 배경 및 주요 역량</a:t>
            </a:r>
            <a:endParaRPr lang="en-US" b="1" dirty="0">
              <a:latin typeface="+mj-lt"/>
              <a:ea typeface="+mj-ea"/>
              <a:cs typeface="Hanken Grotesk Black"/>
              <a:sym typeface="Hanken Grotesk Black"/>
            </a:endParaRPr>
          </a:p>
        </p:txBody>
      </p:sp>
      <p:sp>
        <p:nvSpPr>
          <p:cNvPr id="339" name="Google Shape;339;p43"/>
          <p:cNvSpPr txBox="1"/>
          <p:nvPr/>
        </p:nvSpPr>
        <p:spPr>
          <a:xfrm>
            <a:off x="3094818" y="941560"/>
            <a:ext cx="4673341" cy="449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200" b="1" dirty="0">
                <a:solidFill>
                  <a:srgbClr val="333333"/>
                </a:solidFill>
                <a:latin typeface="+mj-lt"/>
                <a:ea typeface="+mj-ea"/>
                <a:cs typeface="Hanken Grotesk Medium"/>
                <a:sym typeface="Hanken Grotesk Medium"/>
              </a:rPr>
              <a:t>전공 및 학업 내용</a:t>
            </a:r>
            <a:endParaRPr lang="en-US" altLang="ko" sz="1100" b="1" dirty="0">
              <a:solidFill>
                <a:srgbClr val="333333"/>
              </a:solidFill>
              <a:latin typeface="+mj-lt"/>
              <a:ea typeface="+mj-ea"/>
              <a:cs typeface="Hanken Grotesk Medium"/>
              <a:sym typeface="Hanken Grotesk Medium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9C9682B-A46D-4861-91AE-9BFF91A09554}"/>
              </a:ext>
            </a:extLst>
          </p:cNvPr>
          <p:cNvGrpSpPr/>
          <p:nvPr/>
        </p:nvGrpSpPr>
        <p:grpSpPr>
          <a:xfrm>
            <a:off x="3094818" y="1399101"/>
            <a:ext cx="5481011" cy="2266953"/>
            <a:chOff x="947308" y="1528005"/>
            <a:chExt cx="7061372" cy="3141541"/>
          </a:xfrm>
        </p:grpSpPr>
        <p:grpSp>
          <p:nvGrpSpPr>
            <p:cNvPr id="336" name="Google Shape;336;p43"/>
            <p:cNvGrpSpPr/>
            <p:nvPr/>
          </p:nvGrpSpPr>
          <p:grpSpPr>
            <a:xfrm>
              <a:off x="1135320" y="1528005"/>
              <a:ext cx="6873359" cy="817068"/>
              <a:chOff x="818925" y="1503299"/>
              <a:chExt cx="6873359" cy="817068"/>
            </a:xfrm>
          </p:grpSpPr>
          <p:pic>
            <p:nvPicPr>
              <p:cNvPr id="337" name="Google Shape;337;p43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818925" y="1628132"/>
                <a:ext cx="1729677" cy="5727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38" name="Google Shape;338;p43"/>
              <p:cNvSpPr txBox="1"/>
              <p:nvPr/>
            </p:nvSpPr>
            <p:spPr>
              <a:xfrm>
                <a:off x="2951693" y="1503299"/>
                <a:ext cx="4740591" cy="817068"/>
              </a:xfrm>
              <a:prstGeom prst="rect">
                <a:avLst/>
              </a:prstGeom>
              <a:solidFill>
                <a:srgbClr val="F3F3F3"/>
              </a:solidFill>
              <a:ln w="1905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900" b="1" dirty="0">
                    <a:latin typeface="+mj-lt"/>
                    <a:ea typeface="+mj-ea"/>
                    <a:cs typeface="Calibri" panose="020F0502020204030204" pitchFamily="34" charset="0"/>
                    <a:sym typeface="Hanken Grotesk"/>
                  </a:rPr>
                  <a:t>학사: Life Science + Artificial Intelligence</a:t>
                </a:r>
                <a:endParaRPr sz="100" b="1" dirty="0">
                  <a:latin typeface="+mj-lt"/>
                  <a:ea typeface="+mj-ea"/>
                  <a:cs typeface="Calibri" panose="020F0502020204030204" pitchFamily="34" charset="0"/>
                  <a:sym typeface="Hanken Grotesk"/>
                </a:endParaRPr>
              </a:p>
              <a:p>
                <a:pPr marL="0" marR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altLang="en-US" sz="900" dirty="0">
                    <a:latin typeface="+mj-lt"/>
                    <a:ea typeface="+mj-ea"/>
                    <a:cs typeface="Calibri" panose="020F0502020204030204" pitchFamily="34" charset="0"/>
                    <a:sym typeface="Hanken Grotesk"/>
                  </a:rPr>
                  <a:t>생명과학과 인공지능을 함께 공부하며 데이터 기반 문제 해결의 기초를 쌓았습니다</a:t>
                </a:r>
                <a:r>
                  <a:rPr lang="en-US" altLang="ko-KR" sz="900" dirty="0">
                    <a:latin typeface="+mj-lt"/>
                    <a:ea typeface="+mj-ea"/>
                    <a:cs typeface="Calibri" panose="020F0502020204030204" pitchFamily="34" charset="0"/>
                    <a:sym typeface="Hanken Grotesk"/>
                  </a:rPr>
                  <a:t>.</a:t>
                </a:r>
                <a:endParaRPr sz="900" dirty="0">
                  <a:latin typeface="+mj-lt"/>
                  <a:ea typeface="+mj-ea"/>
                  <a:cs typeface="Calibri" panose="020F0502020204030204" pitchFamily="34" charset="0"/>
                  <a:sym typeface="Hanken Grotesk"/>
                </a:endParaRPr>
              </a:p>
            </p:txBody>
          </p:sp>
        </p:grpSp>
        <p:sp>
          <p:nvSpPr>
            <p:cNvPr id="340" name="Google Shape;340;p43"/>
            <p:cNvSpPr/>
            <p:nvPr/>
          </p:nvSpPr>
          <p:spPr>
            <a:xfrm rot="5400000">
              <a:off x="1888107" y="2375564"/>
              <a:ext cx="224100" cy="2883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grpSp>
          <p:nvGrpSpPr>
            <p:cNvPr id="341" name="Google Shape;341;p43"/>
            <p:cNvGrpSpPr/>
            <p:nvPr/>
          </p:nvGrpSpPr>
          <p:grpSpPr>
            <a:xfrm>
              <a:off x="1261921" y="2716665"/>
              <a:ext cx="6746758" cy="817069"/>
              <a:chOff x="945526" y="2751061"/>
              <a:chExt cx="6746758" cy="817069"/>
            </a:xfrm>
          </p:grpSpPr>
          <p:pic>
            <p:nvPicPr>
              <p:cNvPr id="342" name="Google Shape;342;p43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945526" y="2832295"/>
                <a:ext cx="1476455" cy="6447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3" name="Google Shape;343;p43"/>
              <p:cNvSpPr txBox="1"/>
              <p:nvPr/>
            </p:nvSpPr>
            <p:spPr>
              <a:xfrm>
                <a:off x="2951695" y="2751061"/>
                <a:ext cx="4740589" cy="817069"/>
              </a:xfrm>
              <a:prstGeom prst="rect">
                <a:avLst/>
              </a:prstGeom>
              <a:solidFill>
                <a:srgbClr val="F3F3F3"/>
              </a:solidFill>
              <a:ln w="1905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900" b="1" dirty="0">
                    <a:latin typeface="+mj-lt"/>
                    <a:ea typeface="+mj-ea"/>
                    <a:cs typeface="Hanken Grotesk"/>
                    <a:sym typeface="Hanken Grotesk"/>
                  </a:rPr>
                  <a:t>석사: Bio and Brain Engineering</a:t>
                </a:r>
                <a:endParaRPr sz="900" b="1" dirty="0">
                  <a:latin typeface="+mj-lt"/>
                  <a:ea typeface="+mj-ea"/>
                  <a:cs typeface="Hanken Grotesk"/>
                  <a:sym typeface="Hanken Grotesk"/>
                </a:endParaRPr>
              </a:p>
              <a:p>
                <a:pPr marL="0" marR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altLang="en-US" sz="900" dirty="0">
                    <a:latin typeface="+mj-lt"/>
                    <a:ea typeface="+mj-ea"/>
                    <a:cs typeface="Hanken Grotesk"/>
                    <a:sym typeface="Hanken Grotesk"/>
                  </a:rPr>
                  <a:t>비정형 </a:t>
                </a:r>
                <a:r>
                  <a:rPr lang="en-US" altLang="ko-KR" sz="900" dirty="0">
                    <a:latin typeface="+mj-lt"/>
                    <a:ea typeface="+mj-ea"/>
                    <a:cs typeface="Hanken Grotesk"/>
                    <a:sym typeface="Hanken Grotesk"/>
                  </a:rPr>
                  <a:t>biomedical text</a:t>
                </a:r>
                <a:r>
                  <a:rPr lang="ko-KR" altLang="en-US" sz="900" dirty="0">
                    <a:latin typeface="+mj-lt"/>
                    <a:ea typeface="+mj-ea"/>
                    <a:cs typeface="Hanken Grotesk"/>
                    <a:sym typeface="Hanken Grotesk"/>
                  </a:rPr>
                  <a:t>에서 핵심 정보를 추출하고 지식그래프 </a:t>
                </a:r>
                <a:r>
                  <a:rPr lang="en-US" altLang="ko-KR" sz="900" dirty="0">
                    <a:latin typeface="+mj-lt"/>
                    <a:ea typeface="+mj-ea"/>
                    <a:cs typeface="Hanken Grotesk"/>
                    <a:sym typeface="Hanken Grotesk"/>
                  </a:rPr>
                  <a:t>DB</a:t>
                </a:r>
                <a:r>
                  <a:rPr lang="ko-KR" altLang="en-US" sz="900" dirty="0">
                    <a:latin typeface="+mj-lt"/>
                    <a:ea typeface="+mj-ea"/>
                    <a:cs typeface="Hanken Grotesk"/>
                    <a:sym typeface="Hanken Grotesk"/>
                  </a:rPr>
                  <a:t>로 구축하며 데이터 구조화와 파이프라인 설계 역량을 심화했습니다</a:t>
                </a:r>
                <a:r>
                  <a:rPr lang="en-US" altLang="ko-KR" sz="900" dirty="0">
                    <a:latin typeface="+mj-lt"/>
                    <a:ea typeface="+mj-ea"/>
                    <a:cs typeface="Hanken Grotesk"/>
                    <a:sym typeface="Hanken Grotesk"/>
                  </a:rPr>
                  <a:t>.</a:t>
                </a:r>
                <a:endParaRPr lang="ko-KR" altLang="en-US" sz="900" dirty="0">
                  <a:latin typeface="+mj-lt"/>
                  <a:ea typeface="+mj-ea"/>
                  <a:cs typeface="Hanken Grotesk"/>
                  <a:sym typeface="Hanken Grotesk"/>
                </a:endParaRPr>
              </a:p>
            </p:txBody>
          </p:sp>
        </p:grpSp>
        <p:grpSp>
          <p:nvGrpSpPr>
            <p:cNvPr id="344" name="Google Shape;344;p43"/>
            <p:cNvGrpSpPr/>
            <p:nvPr/>
          </p:nvGrpSpPr>
          <p:grpSpPr>
            <a:xfrm>
              <a:off x="947308" y="3852478"/>
              <a:ext cx="7061372" cy="817068"/>
              <a:chOff x="630913" y="3802442"/>
              <a:chExt cx="7061372" cy="817068"/>
            </a:xfrm>
          </p:grpSpPr>
          <p:pic>
            <p:nvPicPr>
              <p:cNvPr id="345" name="Google Shape;345;p4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630913" y="3917303"/>
                <a:ext cx="2105684" cy="5727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6" name="Google Shape;346;p43"/>
              <p:cNvSpPr txBox="1"/>
              <p:nvPr/>
            </p:nvSpPr>
            <p:spPr>
              <a:xfrm>
                <a:off x="2951693" y="3802442"/>
                <a:ext cx="4740592" cy="817068"/>
              </a:xfrm>
              <a:prstGeom prst="rect">
                <a:avLst/>
              </a:prstGeom>
              <a:solidFill>
                <a:srgbClr val="F3F3F3"/>
              </a:solidFill>
              <a:ln w="1905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900" b="1" dirty="0">
                    <a:latin typeface="+mj-lt"/>
                    <a:ea typeface="+mj-ea"/>
                    <a:cs typeface="Hanken Grotesk"/>
                    <a:sym typeface="Hanken Grotesk"/>
                  </a:rPr>
                  <a:t>석사: Bioinformatics</a:t>
                </a:r>
                <a:endParaRPr sz="900" b="1" dirty="0">
                  <a:latin typeface="+mj-lt"/>
                  <a:ea typeface="+mj-ea"/>
                  <a:cs typeface="Hanken Grotesk"/>
                  <a:sym typeface="Hanken Grotesk"/>
                </a:endParaRPr>
              </a:p>
              <a:p>
                <a:pPr marL="0" marR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altLang="en-US" sz="900" dirty="0">
                    <a:latin typeface="+mj-lt"/>
                    <a:ea typeface="+mj-ea"/>
                    <a:cs typeface="Hanken Grotesk"/>
                    <a:sym typeface="Hanken Grotesk"/>
                  </a:rPr>
                  <a:t>복잡한 바이오 데이터의 특성과 분포 차이를 고려한 분석을 수행하며 강건한 모델링 역량을 확장했습니다</a:t>
                </a:r>
                <a:r>
                  <a:rPr lang="en-US" altLang="ko-KR" sz="900" dirty="0">
                    <a:latin typeface="+mj-lt"/>
                    <a:ea typeface="+mj-ea"/>
                    <a:cs typeface="Hanken Grotesk"/>
                    <a:sym typeface="Hanken Grotesk"/>
                  </a:rPr>
                  <a:t>.</a:t>
                </a:r>
                <a:endParaRPr sz="900" dirty="0">
                  <a:latin typeface="+mj-lt"/>
                  <a:ea typeface="+mj-ea"/>
                  <a:cs typeface="Hanken Grotesk"/>
                  <a:sym typeface="Hanken Grotesk"/>
                </a:endParaRPr>
              </a:p>
            </p:txBody>
          </p:sp>
        </p:grpSp>
        <p:sp>
          <p:nvSpPr>
            <p:cNvPr id="347" name="Google Shape;347;p43"/>
            <p:cNvSpPr/>
            <p:nvPr/>
          </p:nvSpPr>
          <p:spPr>
            <a:xfrm rot="5400000">
              <a:off x="1888107" y="3576681"/>
              <a:ext cx="224100" cy="2883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CE39E80-A2A4-4670-9708-44003532F7FE}"/>
              </a:ext>
            </a:extLst>
          </p:cNvPr>
          <p:cNvCxnSpPr>
            <a:cxnSpLocks/>
          </p:cNvCxnSpPr>
          <p:nvPr/>
        </p:nvCxnSpPr>
        <p:spPr>
          <a:xfrm>
            <a:off x="2782348" y="975606"/>
            <a:ext cx="0" cy="298247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B9176656-06BA-4674-87F7-87D7905B35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1461" y="1292867"/>
            <a:ext cx="1080375" cy="1391669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F98271B-C994-498C-A53E-9E27F53C1897}"/>
              </a:ext>
            </a:extLst>
          </p:cNvPr>
          <p:cNvCxnSpPr>
            <a:cxnSpLocks/>
          </p:cNvCxnSpPr>
          <p:nvPr/>
        </p:nvCxnSpPr>
        <p:spPr>
          <a:xfrm>
            <a:off x="317040" y="3958084"/>
            <a:ext cx="822064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22EDD69C-D0CD-4116-BCA1-5BE0482B8254}"/>
              </a:ext>
            </a:extLst>
          </p:cNvPr>
          <p:cNvSpPr txBox="1"/>
          <p:nvPr/>
        </p:nvSpPr>
        <p:spPr>
          <a:xfrm>
            <a:off x="441709" y="3962736"/>
            <a:ext cx="5306219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+mn-lt"/>
              </a:rPr>
              <a:t>Skills</a:t>
            </a:r>
            <a:endParaRPr lang="en-US" sz="1200" b="1" dirty="0">
              <a:latin typeface="+mn-lt"/>
            </a:endParaRPr>
          </a:p>
          <a:p>
            <a:pPr>
              <a:lnSpc>
                <a:spcPct val="150000"/>
              </a:lnSpc>
            </a:pPr>
            <a:endParaRPr lang="en-US" sz="200" b="1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b="1" dirty="0">
                <a:latin typeface="+mn-lt"/>
              </a:rPr>
              <a:t>Programming</a:t>
            </a:r>
            <a:r>
              <a:rPr lang="en-US" sz="1100" dirty="0">
                <a:latin typeface="+mn-lt"/>
              </a:rPr>
              <a:t>: Python, R, C++, 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b="1" dirty="0">
                <a:latin typeface="+mn-lt"/>
              </a:rPr>
              <a:t>Framework/Server</a:t>
            </a:r>
            <a:r>
              <a:rPr lang="en-US" sz="1100" dirty="0">
                <a:latin typeface="+mn-lt"/>
              </a:rPr>
              <a:t>: Django, Shiny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834C0F7-B452-4DC0-8006-C44CF08B2ECA}"/>
              </a:ext>
            </a:extLst>
          </p:cNvPr>
          <p:cNvSpPr txBox="1"/>
          <p:nvPr/>
        </p:nvSpPr>
        <p:spPr>
          <a:xfrm>
            <a:off x="305243" y="2873671"/>
            <a:ext cx="24528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 dirty="0">
                <a:solidFill>
                  <a:schemeClr val="bg2">
                    <a:lumMod val="50000"/>
                  </a:schemeClr>
                </a:solidFill>
              </a:rPr>
              <a:t>AI/ML</a:t>
            </a:r>
            <a:r>
              <a:rPr lang="ko-KR" altLang="en-US" sz="1000" b="1" dirty="0">
                <a:solidFill>
                  <a:schemeClr val="bg2">
                    <a:lumMod val="50000"/>
                  </a:schemeClr>
                </a:solidFill>
              </a:rPr>
              <a:t>과 </a:t>
            </a:r>
            <a:r>
              <a:rPr lang="en-US" altLang="ko-KR" sz="1000" b="1" dirty="0">
                <a:solidFill>
                  <a:schemeClr val="bg2">
                    <a:lumMod val="50000"/>
                  </a:schemeClr>
                </a:solidFill>
              </a:rPr>
              <a:t>NLP</a:t>
            </a:r>
            <a:r>
              <a:rPr lang="ko-KR" altLang="en-US" sz="1000" b="1" dirty="0">
                <a:solidFill>
                  <a:schemeClr val="bg2">
                    <a:lumMod val="50000"/>
                  </a:schemeClr>
                </a:solidFill>
              </a:rPr>
              <a:t>를 활용해 복잡한 데이터를 해석하고</a:t>
            </a:r>
            <a:r>
              <a:rPr lang="en-US" altLang="ko-KR" sz="1000" b="1" dirty="0">
                <a:solidFill>
                  <a:schemeClr val="bg2">
                    <a:lumMod val="50000"/>
                  </a:schemeClr>
                </a:solidFill>
              </a:rPr>
              <a:t>, DB</a:t>
            </a:r>
            <a:r>
              <a:rPr lang="ko-KR" altLang="en-US" sz="1000" b="1" dirty="0">
                <a:solidFill>
                  <a:schemeClr val="bg2">
                    <a:lumMod val="50000"/>
                  </a:schemeClr>
                </a:solidFill>
              </a:rPr>
              <a:t>와 서버</a:t>
            </a:r>
            <a:r>
              <a:rPr lang="en-US" altLang="ko-KR" sz="1000" b="1" dirty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bg2">
                    <a:lumMod val="50000"/>
                  </a:schemeClr>
                </a:solidFill>
              </a:rPr>
              <a:t>시각화로 연결해 활용성을 높여 온 지원자</a:t>
            </a:r>
            <a:endParaRPr lang="en-DE" sz="10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A97DE7F-4941-45DD-A42D-1F8DA13D017D}"/>
              </a:ext>
            </a:extLst>
          </p:cNvPr>
          <p:cNvSpPr txBox="1"/>
          <p:nvPr/>
        </p:nvSpPr>
        <p:spPr>
          <a:xfrm>
            <a:off x="3144816" y="4328957"/>
            <a:ext cx="530621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b="1" dirty="0">
                <a:latin typeface="+mn-lt"/>
              </a:rPr>
              <a:t>Data &amp; ML</a:t>
            </a:r>
            <a:r>
              <a:rPr lang="en-US" sz="1100" dirty="0">
                <a:latin typeface="+mn-lt"/>
              </a:rPr>
              <a:t>: NumPy, pandas, scikit-learn, PyTorch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b="1" dirty="0">
                <a:latin typeface="+mn-lt"/>
              </a:rPr>
              <a:t>Workflow &amp; compute</a:t>
            </a:r>
            <a:r>
              <a:rPr lang="en-US" sz="1100" dirty="0">
                <a:latin typeface="+mn-lt"/>
              </a:rPr>
              <a:t>: Linux, Git, Conda, Jupyter, HPC, SLURM</a:t>
            </a:r>
            <a:endParaRPr lang="en-DE" sz="1100" dirty="0">
              <a:latin typeface="+mn-lt"/>
            </a:endParaRPr>
          </a:p>
        </p:txBody>
      </p:sp>
      <p:sp>
        <p:nvSpPr>
          <p:cNvPr id="55" name="Google Shape;368;p45">
            <a:extLst>
              <a:ext uri="{FF2B5EF4-FFF2-40B4-BE49-F238E27FC236}">
                <a16:creationId xmlns:a16="http://schemas.microsoft.com/office/drawing/2014/main" id="{DD6881A9-2BBF-495E-BDBB-F33333EEC513}"/>
              </a:ext>
            </a:extLst>
          </p:cNvPr>
          <p:cNvSpPr txBox="1"/>
          <p:nvPr/>
        </p:nvSpPr>
        <p:spPr>
          <a:xfrm>
            <a:off x="287625" y="3406487"/>
            <a:ext cx="1815810" cy="36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latin typeface="+mj-lt"/>
                <a:ea typeface="+mj-ea"/>
                <a:cs typeface="Hanken Grotesk"/>
                <a:sym typeface="Hanken Grotesk"/>
              </a:rPr>
              <a:t>GitHub: </a:t>
            </a:r>
            <a:r>
              <a:rPr lang="en-US" sz="1000" b="1" dirty="0">
                <a:latin typeface="+mj-lt"/>
                <a:hlinkClick r:id="rId7"/>
              </a:rPr>
              <a:t>2vs5 (Daeho Lee)</a:t>
            </a:r>
            <a:endParaRPr sz="1000" b="1" dirty="0">
              <a:latin typeface="+mj-lt"/>
              <a:ea typeface="+mj-ea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352;p44">
            <a:extLst>
              <a:ext uri="{FF2B5EF4-FFF2-40B4-BE49-F238E27FC236}">
                <a16:creationId xmlns:a16="http://schemas.microsoft.com/office/drawing/2014/main" id="{2C85989B-F786-4DB3-90E9-F514848CD0C0}"/>
              </a:ext>
            </a:extLst>
          </p:cNvPr>
          <p:cNvSpPr txBox="1">
            <a:spLocks/>
          </p:cNvSpPr>
          <p:nvPr/>
        </p:nvSpPr>
        <p:spPr>
          <a:xfrm>
            <a:off x="388838" y="297417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 Black"/>
              <a:buNone/>
              <a:defRPr sz="28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r>
              <a:rPr lang="ko-KR" altLang="en-US" b="1" dirty="0">
                <a:latin typeface="+mj-lt"/>
                <a:ea typeface="+mj-ea"/>
                <a:cs typeface="Hanken Grotesk Black"/>
                <a:sym typeface="Hanken Grotesk Black"/>
              </a:rPr>
              <a:t>학위 논문</a:t>
            </a:r>
            <a:r>
              <a:rPr lang="en-US" altLang="ko-KR" b="1" dirty="0">
                <a:latin typeface="+mj-lt"/>
                <a:ea typeface="+mj-ea"/>
                <a:cs typeface="Hanken Grotesk Black"/>
                <a:sym typeface="Hanken Grotesk Black"/>
              </a:rPr>
              <a:t>: Freie Universität Berlin</a:t>
            </a:r>
            <a:endParaRPr lang="en-US" b="1" dirty="0">
              <a:latin typeface="+mj-lt"/>
              <a:ea typeface="+mj-ea"/>
              <a:cs typeface="Hanken Grotesk Black"/>
              <a:sym typeface="Hanken Grotesk Black"/>
            </a:endParaRPr>
          </a:p>
        </p:txBody>
      </p:sp>
      <p:pic>
        <p:nvPicPr>
          <p:cNvPr id="355" name="Google Shape;35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6425" y="3618084"/>
            <a:ext cx="609362" cy="529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49287" y="3233512"/>
            <a:ext cx="609362" cy="529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21238" y="4052772"/>
            <a:ext cx="537411" cy="46261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8" name="Google Shape;358;p44"/>
          <p:cNvCxnSpPr>
            <a:cxnSpLocks/>
            <a:stCxn id="355" idx="3"/>
            <a:endCxn id="356" idx="1"/>
          </p:cNvCxnSpPr>
          <p:nvPr/>
        </p:nvCxnSpPr>
        <p:spPr>
          <a:xfrm flipV="1">
            <a:off x="1665787" y="3498503"/>
            <a:ext cx="783500" cy="384572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9" name="Google Shape;359;p44"/>
          <p:cNvCxnSpPr>
            <a:cxnSpLocks/>
            <a:endCxn id="357" idx="1"/>
          </p:cNvCxnSpPr>
          <p:nvPr/>
        </p:nvCxnSpPr>
        <p:spPr>
          <a:xfrm>
            <a:off x="1650016" y="3883075"/>
            <a:ext cx="871222" cy="401003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60" name="Google Shape;360;p44"/>
          <p:cNvSpPr txBox="1"/>
          <p:nvPr/>
        </p:nvSpPr>
        <p:spPr>
          <a:xfrm>
            <a:off x="2305115" y="4509373"/>
            <a:ext cx="969655" cy="326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 dirty="0">
                <a:latin typeface="+mj-ea"/>
                <a:ea typeface="+mj-ea"/>
                <a:cs typeface="Hanken Grotesk"/>
                <a:sym typeface="Hanken Grotesk"/>
              </a:rPr>
              <a:t>scRNA-seq data</a:t>
            </a:r>
            <a:endParaRPr sz="1000" dirty="0">
              <a:latin typeface="+mj-ea"/>
              <a:ea typeface="+mj-ea"/>
            </a:endParaRPr>
          </a:p>
        </p:txBody>
      </p:sp>
      <p:sp>
        <p:nvSpPr>
          <p:cNvPr id="361" name="Google Shape;361;p44"/>
          <p:cNvSpPr txBox="1"/>
          <p:nvPr/>
        </p:nvSpPr>
        <p:spPr>
          <a:xfrm>
            <a:off x="2003657" y="3696118"/>
            <a:ext cx="1621193" cy="326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 dirty="0">
                <a:latin typeface="+mj-ea"/>
                <a:ea typeface="+mj-ea"/>
                <a:cs typeface="Hanken Grotesk"/>
                <a:sym typeface="Hanken Grotesk"/>
              </a:rPr>
              <a:t>Spatial transcriptomics data</a:t>
            </a:r>
            <a:endParaRPr sz="1000" dirty="0">
              <a:latin typeface="+mj-ea"/>
              <a:ea typeface="+mj-ea"/>
            </a:endParaRPr>
          </a:p>
        </p:txBody>
      </p:sp>
      <p:sp>
        <p:nvSpPr>
          <p:cNvPr id="14" name="Google Shape;354;p44">
            <a:extLst>
              <a:ext uri="{FF2B5EF4-FFF2-40B4-BE49-F238E27FC236}">
                <a16:creationId xmlns:a16="http://schemas.microsoft.com/office/drawing/2014/main" id="{AF51E70F-7A06-4361-AD56-87507E90EBFA}"/>
              </a:ext>
            </a:extLst>
          </p:cNvPr>
          <p:cNvSpPr txBox="1"/>
          <p:nvPr/>
        </p:nvSpPr>
        <p:spPr>
          <a:xfrm>
            <a:off x="745414" y="1082598"/>
            <a:ext cx="7652931" cy="1220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1" dirty="0">
                <a:solidFill>
                  <a:srgbClr val="434343"/>
                </a:solidFill>
                <a:latin typeface="+mn-lt"/>
                <a:ea typeface="+mj-ea"/>
                <a:cs typeface="Hanken Grotesk"/>
                <a:sym typeface="Hanken Grotesk"/>
              </a:rPr>
              <a:t>문제 정의</a:t>
            </a:r>
            <a:endParaRPr sz="1050" b="1" dirty="0">
              <a:solidFill>
                <a:srgbClr val="434343"/>
              </a:solidFill>
              <a:latin typeface="+mn-lt"/>
              <a:ea typeface="+mj-ea"/>
              <a:cs typeface="Hanken Grotesk"/>
              <a:sym typeface="Hanken Grotesk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lt"/>
                <a:ea typeface="+mj-ea"/>
              </a:rPr>
              <a:t>scRNA-seq</a:t>
            </a:r>
            <a:r>
              <a:rPr lang="ko-KR" altLang="en-US" sz="900" dirty="0">
                <a:latin typeface="+mn-lt"/>
                <a:ea typeface="+mj-ea"/>
              </a:rPr>
              <a:t>는 </a:t>
            </a:r>
            <a:r>
              <a:rPr lang="ko-KR" altLang="en-US" sz="900" b="1" dirty="0">
                <a:latin typeface="+mn-lt"/>
                <a:ea typeface="+mj-ea"/>
              </a:rPr>
              <a:t>세포별 유전자 정보</a:t>
            </a:r>
            <a:r>
              <a:rPr lang="ko-KR" altLang="en-US" sz="900" dirty="0">
                <a:latin typeface="+mn-lt"/>
                <a:ea typeface="+mj-ea"/>
              </a:rPr>
              <a:t>를 자세히 볼 수 있지만</a:t>
            </a:r>
            <a:r>
              <a:rPr lang="en-US" altLang="ko-KR" sz="900" dirty="0">
                <a:latin typeface="+mn-lt"/>
                <a:ea typeface="+mj-ea"/>
              </a:rPr>
              <a:t>, </a:t>
            </a:r>
            <a:r>
              <a:rPr lang="ko-KR" altLang="en-US" sz="900" dirty="0">
                <a:latin typeface="+mn-lt"/>
                <a:ea typeface="+mj-ea"/>
              </a:rPr>
              <a:t>세포가 원래 어디에 있었는지는 알기 어렵습니다</a:t>
            </a:r>
            <a:r>
              <a:rPr lang="en-US" altLang="ko-KR" sz="900" dirty="0">
                <a:latin typeface="+mn-lt"/>
                <a:ea typeface="+mj-ea"/>
              </a:rPr>
              <a:t>.</a:t>
            </a: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lt"/>
                <a:ea typeface="+mj-ea"/>
                <a:cs typeface="Hanken Grotesk"/>
                <a:sym typeface="Hanken Grotesk"/>
              </a:rPr>
              <a:t>Spatial transcriptomics</a:t>
            </a:r>
            <a:r>
              <a:rPr lang="ko-KR" altLang="en-US" sz="900" dirty="0">
                <a:latin typeface="+mn-lt"/>
                <a:ea typeface="+mj-ea"/>
                <a:cs typeface="Hanken Grotesk"/>
                <a:sym typeface="Hanken Grotesk"/>
              </a:rPr>
              <a:t>는 </a:t>
            </a:r>
            <a:r>
              <a:rPr lang="ko-KR" altLang="en-US" sz="900" b="1" dirty="0">
                <a:latin typeface="+mn-lt"/>
                <a:ea typeface="+mj-ea"/>
                <a:cs typeface="Hanken Grotesk"/>
                <a:sym typeface="Hanken Grotesk"/>
              </a:rPr>
              <a:t>세포의 위치 정보</a:t>
            </a:r>
            <a:r>
              <a:rPr lang="ko-KR" altLang="en-US" sz="900" dirty="0">
                <a:latin typeface="+mn-lt"/>
                <a:ea typeface="+mj-ea"/>
                <a:cs typeface="Hanken Grotesk"/>
                <a:sym typeface="Hanken Grotesk"/>
              </a:rPr>
              <a:t>는 알 수 있지만</a:t>
            </a:r>
            <a:r>
              <a:rPr lang="en-US" altLang="ko-KR" sz="900" dirty="0">
                <a:latin typeface="+mn-lt"/>
                <a:ea typeface="+mj-ea"/>
                <a:cs typeface="Hanken Grotesk"/>
                <a:sym typeface="Hanken Grotesk"/>
              </a:rPr>
              <a:t>, </a:t>
            </a:r>
            <a:r>
              <a:rPr lang="ko-KR" altLang="en-US" sz="900" dirty="0">
                <a:latin typeface="+mn-lt"/>
                <a:ea typeface="+mj-ea"/>
                <a:cs typeface="Hanken Grotesk"/>
                <a:sym typeface="Hanken Grotesk"/>
              </a:rPr>
              <a:t>측정할 수 있는 유전자 정보가 제한적입니다</a:t>
            </a:r>
            <a:r>
              <a:rPr lang="en-US" altLang="ko-KR" sz="900" dirty="0">
                <a:latin typeface="+mn-lt"/>
                <a:ea typeface="+mj-ea"/>
                <a:cs typeface="Hanken Grotesk"/>
                <a:sym typeface="Hanken Grotesk"/>
              </a:rPr>
              <a:t>.</a:t>
            </a: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+mn-lt"/>
                <a:ea typeface="+mj-ea"/>
              </a:rPr>
              <a:t>두 데이터를 안정적으로 연결하면 세포의 기능과 위치를 함께 파악할 수 있습니다</a:t>
            </a:r>
            <a:r>
              <a:rPr lang="en-US" altLang="ko-KR" sz="900" dirty="0">
                <a:latin typeface="+mn-lt"/>
                <a:ea typeface="+mj-ea"/>
              </a:rPr>
              <a:t>.</a:t>
            </a:r>
            <a:endParaRPr lang="ko-KR" altLang="en-US" sz="900" dirty="0">
              <a:latin typeface="+mn-lt"/>
              <a:ea typeface="+mj-ea"/>
              <a:cs typeface="Hanken Grotesk"/>
              <a:sym typeface="Hanken Grotesk"/>
            </a:endParaRPr>
          </a:p>
        </p:txBody>
      </p:sp>
      <p:sp>
        <p:nvSpPr>
          <p:cNvPr id="15" name="Google Shape;367;p45">
            <a:extLst>
              <a:ext uri="{FF2B5EF4-FFF2-40B4-BE49-F238E27FC236}">
                <a16:creationId xmlns:a16="http://schemas.microsoft.com/office/drawing/2014/main" id="{3CB8331A-ADDF-4294-813A-0DFA633F53A2}"/>
              </a:ext>
            </a:extLst>
          </p:cNvPr>
          <p:cNvSpPr txBox="1"/>
          <p:nvPr/>
        </p:nvSpPr>
        <p:spPr>
          <a:xfrm>
            <a:off x="464545" y="808047"/>
            <a:ext cx="7933800" cy="38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1200" b="1" dirty="0">
                <a:solidFill>
                  <a:srgbClr val="333333"/>
                </a:solidFill>
                <a:latin typeface="+mj-lt"/>
                <a:ea typeface="+mj-ea"/>
                <a:cs typeface="Hanken Grotesk"/>
                <a:sym typeface="Hanken Grotesk"/>
              </a:rPr>
              <a:t>scRNA-seq</a:t>
            </a:r>
            <a:r>
              <a:rPr lang="ko-KR" altLang="en-US" sz="1200" b="1" dirty="0">
                <a:solidFill>
                  <a:srgbClr val="333333"/>
                </a:solidFill>
                <a:latin typeface="+mj-lt"/>
                <a:ea typeface="+mj-ea"/>
                <a:cs typeface="Hanken Grotesk"/>
                <a:sym typeface="Hanken Grotesk"/>
              </a:rPr>
              <a:t>와 </a:t>
            </a:r>
            <a:r>
              <a:rPr lang="en-US" altLang="ko" sz="1200" b="1" dirty="0">
                <a:solidFill>
                  <a:srgbClr val="333333"/>
                </a:solidFill>
                <a:latin typeface="+mj-lt"/>
                <a:ea typeface="+mj-ea"/>
                <a:cs typeface="Hanken Grotesk"/>
                <a:sym typeface="Hanken Grotesk"/>
              </a:rPr>
              <a:t>spatial transcriptomics </a:t>
            </a:r>
            <a:r>
              <a:rPr lang="ko-KR" altLang="en-US" sz="1200" b="1" dirty="0">
                <a:solidFill>
                  <a:srgbClr val="333333"/>
                </a:solidFill>
                <a:latin typeface="+mj-lt"/>
                <a:ea typeface="+mj-ea"/>
                <a:cs typeface="Hanken Grotesk"/>
                <a:sym typeface="Hanken Grotesk"/>
              </a:rPr>
              <a:t>간 </a:t>
            </a:r>
            <a:r>
              <a:rPr lang="en-US" altLang="ko" sz="1200" b="1" dirty="0">
                <a:solidFill>
                  <a:srgbClr val="333333"/>
                </a:solidFill>
                <a:latin typeface="+mj-lt"/>
                <a:ea typeface="+mj-ea"/>
                <a:cs typeface="Hanken Grotesk"/>
                <a:sym typeface="Hanken Grotesk"/>
              </a:rPr>
              <a:t>robust mapping </a:t>
            </a:r>
            <a:r>
              <a:rPr lang="ko-KR" altLang="en-US" sz="1200" b="1" dirty="0">
                <a:solidFill>
                  <a:srgbClr val="333333"/>
                </a:solidFill>
                <a:latin typeface="+mj-lt"/>
                <a:ea typeface="+mj-ea"/>
                <a:cs typeface="Hanken Grotesk"/>
                <a:sym typeface="Hanken Grotesk"/>
              </a:rPr>
              <a:t>연구</a:t>
            </a:r>
            <a:endParaRPr sz="1200" b="1" dirty="0">
              <a:solidFill>
                <a:srgbClr val="FF0000"/>
              </a:solidFill>
              <a:latin typeface="+mj-lt"/>
              <a:ea typeface="+mj-ea"/>
              <a:cs typeface="Hanken Grotesk"/>
              <a:sym typeface="Hanken Grotesk"/>
            </a:endParaRPr>
          </a:p>
        </p:txBody>
      </p:sp>
      <p:sp>
        <p:nvSpPr>
          <p:cNvPr id="27" name="Google Shape;368;p45">
            <a:extLst>
              <a:ext uri="{FF2B5EF4-FFF2-40B4-BE49-F238E27FC236}">
                <a16:creationId xmlns:a16="http://schemas.microsoft.com/office/drawing/2014/main" id="{D32B6AD1-E59B-44ED-87BB-8D515C394322}"/>
              </a:ext>
            </a:extLst>
          </p:cNvPr>
          <p:cNvSpPr txBox="1"/>
          <p:nvPr/>
        </p:nvSpPr>
        <p:spPr>
          <a:xfrm>
            <a:off x="745414" y="1991552"/>
            <a:ext cx="6295150" cy="10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 b="1" dirty="0">
                <a:solidFill>
                  <a:srgbClr val="434343"/>
                </a:solidFill>
                <a:latin typeface="+mj-lt"/>
                <a:ea typeface="+mj-ea"/>
                <a:cs typeface="Hanken Grotesk"/>
                <a:sym typeface="Hanken Grotesk"/>
              </a:rPr>
              <a:t>기존 방법의 한계</a:t>
            </a:r>
            <a:endParaRPr sz="1050" b="1" dirty="0">
              <a:solidFill>
                <a:srgbClr val="434343"/>
              </a:solidFill>
              <a:latin typeface="+mj-lt"/>
              <a:ea typeface="+mj-ea"/>
              <a:cs typeface="Hanken Grotesk"/>
              <a:sym typeface="Hanken Grotesk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+mj-lt"/>
                <a:ea typeface="+mj-ea"/>
                <a:cs typeface="Hanken Grotesk"/>
                <a:sym typeface="Hanken Grotesk"/>
              </a:rPr>
              <a:t>기존 방법은 주로 </a:t>
            </a:r>
            <a:r>
              <a:rPr lang="ko-KR" altLang="en-US" sz="900" b="1" dirty="0">
                <a:latin typeface="+mj-lt"/>
                <a:ea typeface="+mj-ea"/>
                <a:cs typeface="Hanken Grotesk"/>
                <a:sym typeface="Hanken Grotesk"/>
              </a:rPr>
              <a:t>유사도 기반 매핑</a:t>
            </a:r>
            <a:r>
              <a:rPr lang="ko-KR" altLang="en-US" sz="900" dirty="0">
                <a:latin typeface="+mj-lt"/>
                <a:ea typeface="+mj-ea"/>
                <a:cs typeface="Hanken Grotesk"/>
                <a:sym typeface="Hanken Grotesk"/>
              </a:rPr>
              <a:t>에 의존합니다</a:t>
            </a:r>
            <a:r>
              <a:rPr lang="en-US" altLang="ko-KR" sz="900" dirty="0">
                <a:latin typeface="+mj-lt"/>
                <a:ea typeface="+mj-ea"/>
                <a:cs typeface="Hanken Grotesk"/>
                <a:sym typeface="Hanken Grotesk"/>
              </a:rPr>
              <a:t>.</a:t>
            </a: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+mj-lt"/>
                <a:ea typeface="+mj-ea"/>
                <a:cs typeface="Hanken Grotesk"/>
                <a:sym typeface="Hanken Grotesk"/>
              </a:rPr>
              <a:t>그러나 </a:t>
            </a:r>
            <a:r>
              <a:rPr lang="en-US" altLang="ko" sz="900" dirty="0">
                <a:latin typeface="+mj-lt"/>
                <a:ea typeface="+mj-ea"/>
                <a:cs typeface="Hanken Grotesk"/>
                <a:sym typeface="Hanken Grotesk"/>
              </a:rPr>
              <a:t>spatial transcriptomics data</a:t>
            </a:r>
            <a:r>
              <a:rPr lang="ko-KR" altLang="en-US" sz="900" dirty="0">
                <a:latin typeface="+mj-lt"/>
                <a:ea typeface="+mj-ea"/>
                <a:cs typeface="Hanken Grotesk"/>
                <a:sym typeface="Hanken Grotesk"/>
              </a:rPr>
              <a:t>에서는 </a:t>
            </a:r>
            <a:r>
              <a:rPr lang="en-US" altLang="ko" sz="900" b="1" dirty="0">
                <a:latin typeface="+mj-lt"/>
                <a:ea typeface="+mj-ea"/>
                <a:cs typeface="Hanken Grotesk"/>
                <a:sym typeface="Hanken Grotesk"/>
              </a:rPr>
              <a:t>boundary noise</a:t>
            </a:r>
            <a:r>
              <a:rPr lang="ko-KR" altLang="en-US" sz="900" b="1" dirty="0">
                <a:latin typeface="+mj-lt"/>
                <a:ea typeface="+mj-ea"/>
                <a:cs typeface="Hanken Grotesk"/>
                <a:sym typeface="Hanken Grotesk"/>
              </a:rPr>
              <a:t>와 </a:t>
            </a:r>
            <a:r>
              <a:rPr lang="en-US" altLang="ko" sz="900" b="1" dirty="0">
                <a:latin typeface="+mj-lt"/>
                <a:ea typeface="+mj-ea"/>
                <a:cs typeface="Hanken Grotesk"/>
                <a:sym typeface="Hanken Grotesk"/>
              </a:rPr>
              <a:t>signal mixing</a:t>
            </a:r>
            <a:r>
              <a:rPr lang="ko-KR" altLang="en-US" sz="900" dirty="0">
                <a:latin typeface="+mj-lt"/>
                <a:ea typeface="+mj-ea"/>
                <a:cs typeface="Hanken Grotesk"/>
                <a:sym typeface="Hanken Grotesk"/>
              </a:rPr>
              <a:t>이 발생할 수 있습니다</a:t>
            </a:r>
            <a:r>
              <a:rPr lang="en-US" altLang="ko-KR" sz="900" dirty="0">
                <a:latin typeface="+mj-lt"/>
                <a:ea typeface="+mj-ea"/>
                <a:cs typeface="Hanken Grotesk"/>
                <a:sym typeface="Hanken Grotesk"/>
              </a:rPr>
              <a:t>.</a:t>
            </a: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+mj-lt"/>
                <a:ea typeface="+mj-ea"/>
                <a:cs typeface="Hanken Grotesk"/>
                <a:sym typeface="Hanken Grotesk"/>
              </a:rPr>
              <a:t>이로 인해 </a:t>
            </a:r>
            <a:r>
              <a:rPr lang="ko-KR" altLang="en-US" sz="900" b="1" dirty="0">
                <a:latin typeface="+mj-lt"/>
                <a:ea typeface="+mj-ea"/>
                <a:cs typeface="Hanken Grotesk"/>
                <a:sym typeface="Hanken Grotesk"/>
              </a:rPr>
              <a:t>관련 없는 세포에도 가중치가 부여</a:t>
            </a:r>
            <a:r>
              <a:rPr lang="ko-KR" altLang="en-US" sz="900" dirty="0">
                <a:latin typeface="+mj-lt"/>
                <a:ea typeface="+mj-ea"/>
                <a:cs typeface="Hanken Grotesk"/>
                <a:sym typeface="Hanken Grotesk"/>
              </a:rPr>
              <a:t>되어 매핑이 왜곡될 수 있습니다</a:t>
            </a:r>
            <a:r>
              <a:rPr lang="en-US" altLang="ko-KR" sz="900" dirty="0">
                <a:latin typeface="+mj-lt"/>
                <a:ea typeface="+mj-ea"/>
                <a:cs typeface="Hanken Grotesk"/>
                <a:sym typeface="Hanken Grotesk"/>
              </a:rPr>
              <a:t>.</a:t>
            </a:r>
            <a:endParaRPr sz="900" dirty="0">
              <a:latin typeface="+mj-lt"/>
              <a:ea typeface="+mj-ea"/>
              <a:cs typeface="Hanken Grotesk"/>
              <a:sym typeface="Hanken Grotesk"/>
            </a:endParaRPr>
          </a:p>
        </p:txBody>
      </p:sp>
      <p:pic>
        <p:nvPicPr>
          <p:cNvPr id="28" name="Google Shape;369;p45">
            <a:extLst>
              <a:ext uri="{FF2B5EF4-FFF2-40B4-BE49-F238E27FC236}">
                <a16:creationId xmlns:a16="http://schemas.microsoft.com/office/drawing/2014/main" id="{88AF86E5-80AD-4715-A8D7-6576FB03CB22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34879" y="3192360"/>
            <a:ext cx="4350919" cy="1688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5"/>
          <p:cNvSpPr txBox="1"/>
          <p:nvPr/>
        </p:nvSpPr>
        <p:spPr>
          <a:xfrm>
            <a:off x="754096" y="1171255"/>
            <a:ext cx="7638900" cy="14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1" dirty="0">
                <a:solidFill>
                  <a:srgbClr val="434343"/>
                </a:solidFill>
                <a:latin typeface="+mn-lt"/>
                <a:ea typeface="+mn-ea"/>
                <a:cs typeface="Hanken Grotesk"/>
                <a:sym typeface="Hanken Grotesk"/>
              </a:rPr>
              <a:t>전략 </a:t>
            </a:r>
            <a:r>
              <a:rPr lang="en-US" altLang="ko-KR" sz="1050" b="1" dirty="0">
                <a:solidFill>
                  <a:srgbClr val="434343"/>
                </a:solidFill>
                <a:latin typeface="+mn-lt"/>
                <a:ea typeface="+mn-ea"/>
                <a:cs typeface="Hanken Grotesk"/>
                <a:sym typeface="Hanken Grotesk"/>
              </a:rPr>
              <a:t>&amp; </a:t>
            </a:r>
            <a:r>
              <a:rPr lang="ko-KR" altLang="en-US" sz="1050" b="1" dirty="0">
                <a:solidFill>
                  <a:srgbClr val="434343"/>
                </a:solidFill>
                <a:latin typeface="+mn-lt"/>
                <a:ea typeface="+mn-ea"/>
                <a:cs typeface="Hanken Grotesk"/>
                <a:sym typeface="Hanken Grotesk"/>
              </a:rPr>
              <a:t>방법</a:t>
            </a: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lt"/>
                <a:ea typeface="+mn-ea"/>
                <a:cs typeface="Hanken Grotesk"/>
                <a:sym typeface="Hanken Grotesk"/>
              </a:rPr>
              <a:t>전략 </a:t>
            </a:r>
            <a:r>
              <a:rPr lang="en-US" altLang="ko-KR" sz="900" b="1" dirty="0">
                <a:latin typeface="+mn-lt"/>
                <a:ea typeface="+mn-ea"/>
                <a:cs typeface="Hanken Grotesk"/>
                <a:sym typeface="Hanken Grotesk"/>
              </a:rPr>
              <a:t>1: </a:t>
            </a:r>
            <a:r>
              <a:rPr lang="ko-KR" altLang="en-US" sz="900" b="1" dirty="0">
                <a:latin typeface="+mn-lt"/>
                <a:ea typeface="+mn-ea"/>
                <a:cs typeface="Hanken Grotesk"/>
                <a:sym typeface="Hanken Grotesk"/>
              </a:rPr>
              <a:t>신호가 섞였을 가능성이 큰 유전자를 먼저 식별</a:t>
            </a:r>
            <a:r>
              <a:rPr lang="ko-KR" altLang="en-US" sz="900" dirty="0">
                <a:latin typeface="+mn-lt"/>
                <a:ea typeface="+mn-ea"/>
                <a:cs typeface="Hanken Grotesk"/>
                <a:sym typeface="Hanken Grotesk"/>
              </a:rPr>
              <a:t>해 입력 노이즈를 줄였습니다</a:t>
            </a:r>
            <a:r>
              <a:rPr lang="en-US" altLang="ko-KR" sz="900" dirty="0">
                <a:latin typeface="+mn-lt"/>
                <a:ea typeface="+mn-ea"/>
                <a:cs typeface="Hanken Grotesk"/>
                <a:sym typeface="Hanken Grotesk"/>
              </a:rPr>
              <a:t>. </a:t>
            </a: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lt"/>
                <a:ea typeface="+mn-ea"/>
                <a:cs typeface="Hanken Grotesk"/>
                <a:sym typeface="Hanken Grotesk"/>
              </a:rPr>
              <a:t>전략 </a:t>
            </a:r>
            <a:r>
              <a:rPr lang="en-US" altLang="ko-KR" sz="900" b="1" dirty="0">
                <a:latin typeface="+mn-lt"/>
                <a:ea typeface="+mn-ea"/>
                <a:cs typeface="Hanken Grotesk"/>
                <a:sym typeface="Hanken Grotesk"/>
              </a:rPr>
              <a:t>2: </a:t>
            </a:r>
            <a:r>
              <a:rPr lang="ko-KR" altLang="en-US" sz="900" b="1" dirty="0">
                <a:latin typeface="+mn-lt"/>
                <a:ea typeface="+mn-ea"/>
                <a:cs typeface="Hanken Grotesk"/>
                <a:sym typeface="Hanken Grotesk"/>
              </a:rPr>
              <a:t>신뢰도가 높은 </a:t>
            </a:r>
            <a:r>
              <a:rPr lang="en-US" altLang="ko-KR" sz="900" b="1" dirty="0">
                <a:latin typeface="+mn-lt"/>
                <a:ea typeface="+mn-ea"/>
                <a:cs typeface="Hanken Grotesk"/>
                <a:sym typeface="Hanken Grotesk"/>
              </a:rPr>
              <a:t>anchor pair</a:t>
            </a:r>
            <a:r>
              <a:rPr lang="ko-KR" altLang="en-US" sz="900" b="1" dirty="0">
                <a:latin typeface="+mn-lt"/>
                <a:ea typeface="+mn-ea"/>
                <a:cs typeface="Hanken Grotesk"/>
                <a:sym typeface="Hanken Grotesk"/>
              </a:rPr>
              <a:t>를 기준점으로 설정</a:t>
            </a:r>
            <a:r>
              <a:rPr lang="ko-KR" altLang="en-US" sz="900" dirty="0">
                <a:latin typeface="+mn-lt"/>
                <a:ea typeface="+mn-ea"/>
                <a:cs typeface="Hanken Grotesk"/>
                <a:sym typeface="Hanken Grotesk"/>
              </a:rPr>
              <a:t>해 더 안정적으로 매핑했습니다</a:t>
            </a:r>
            <a:r>
              <a:rPr lang="en-US" altLang="ko-KR" sz="900" dirty="0">
                <a:latin typeface="+mn-lt"/>
                <a:ea typeface="+mn-ea"/>
                <a:cs typeface="Hanken Grotesk"/>
                <a:sym typeface="Hanken Grotesk"/>
              </a:rPr>
              <a:t>.</a:t>
            </a: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lt"/>
                <a:ea typeface="+mn-ea"/>
                <a:cs typeface="Hanken Grotesk"/>
                <a:sym typeface="Hanken Grotesk"/>
              </a:rPr>
              <a:t>정렬 방법</a:t>
            </a:r>
            <a:r>
              <a:rPr lang="en-US" altLang="ko-KR" sz="900" dirty="0">
                <a:latin typeface="+mn-lt"/>
                <a:ea typeface="+mn-ea"/>
                <a:cs typeface="Hanken Grotesk"/>
                <a:sym typeface="Hanken Grotesk"/>
              </a:rPr>
              <a:t>: anchor</a:t>
            </a:r>
            <a:r>
              <a:rPr lang="ko-KR" altLang="en-US" sz="900" dirty="0">
                <a:latin typeface="+mn-lt"/>
                <a:ea typeface="+mn-ea"/>
                <a:cs typeface="Hanken Grotesk"/>
                <a:sym typeface="Hanken Grotesk"/>
              </a:rPr>
              <a:t>를 기준으로 </a:t>
            </a:r>
            <a:r>
              <a:rPr lang="en-US" altLang="ko-KR" sz="900" b="1" dirty="0">
                <a:latin typeface="+mn-lt"/>
                <a:ea typeface="+mn-ea"/>
                <a:cs typeface="Hanken Grotesk"/>
                <a:sym typeface="Hanken Grotesk"/>
              </a:rPr>
              <a:t>Fused Gromov-Wasserstein(FGW) </a:t>
            </a:r>
            <a:r>
              <a:rPr lang="ko-KR" altLang="en-US" sz="900" b="1" dirty="0">
                <a:latin typeface="+mn-lt"/>
                <a:ea typeface="+mn-ea"/>
                <a:cs typeface="Hanken Grotesk"/>
                <a:sym typeface="Hanken Grotesk"/>
              </a:rPr>
              <a:t>기반 </a:t>
            </a:r>
            <a:r>
              <a:rPr lang="en-US" altLang="ko-KR" sz="900" b="1" dirty="0">
                <a:latin typeface="+mn-lt"/>
                <a:ea typeface="+mn-ea"/>
                <a:cs typeface="Hanken Grotesk"/>
                <a:sym typeface="Hanken Grotesk"/>
              </a:rPr>
              <a:t>optimal transport</a:t>
            </a:r>
            <a:r>
              <a:rPr lang="ko-KR" altLang="en-US" sz="900" b="1" dirty="0">
                <a:latin typeface="+mn-lt"/>
                <a:ea typeface="+mn-ea"/>
                <a:cs typeface="Hanken Grotesk"/>
                <a:sym typeface="Hanken Grotesk"/>
              </a:rPr>
              <a:t>를 적용해 전체 정렬을 수행</a:t>
            </a:r>
            <a:r>
              <a:rPr lang="ko-KR" altLang="en-US" sz="900" dirty="0">
                <a:latin typeface="+mn-lt"/>
                <a:ea typeface="+mn-ea"/>
                <a:cs typeface="Hanken Grotesk"/>
                <a:sym typeface="Hanken Grotesk"/>
              </a:rPr>
              <a:t>했습니다</a:t>
            </a:r>
            <a:r>
              <a:rPr lang="en-US" altLang="ko-KR" sz="900" dirty="0">
                <a:latin typeface="+mn-lt"/>
                <a:ea typeface="+mn-ea"/>
                <a:cs typeface="Hanken Grotesk"/>
                <a:sym typeface="Hanken Grotesk"/>
              </a:rPr>
              <a:t>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8E9F27F-A3E1-410D-83BA-4FFBC8DCBECF}"/>
              </a:ext>
            </a:extLst>
          </p:cNvPr>
          <p:cNvGrpSpPr/>
          <p:nvPr/>
        </p:nvGrpSpPr>
        <p:grpSpPr>
          <a:xfrm>
            <a:off x="3765255" y="2617133"/>
            <a:ext cx="4555400" cy="2082800"/>
            <a:chOff x="1905000" y="2527320"/>
            <a:chExt cx="5221660" cy="2219303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DC714CB-572F-46DF-801C-1E1CAB1BD40A}"/>
                </a:ext>
              </a:extLst>
            </p:cNvPr>
            <p:cNvGrpSpPr/>
            <p:nvPr/>
          </p:nvGrpSpPr>
          <p:grpSpPr>
            <a:xfrm>
              <a:off x="1905000" y="2762250"/>
              <a:ext cx="4818145" cy="1984373"/>
              <a:chOff x="1917614" y="2606903"/>
              <a:chExt cx="5084931" cy="2219323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39F0DC32-29A4-4278-BFD6-3528BA3EDB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7614" y="2606903"/>
                <a:ext cx="5084931" cy="2219323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D6AA650-0F36-4EF3-8A3E-EB3BBFA6C1E4}"/>
                  </a:ext>
                </a:extLst>
              </p:cNvPr>
              <p:cNvSpPr txBox="1"/>
              <p:nvPr/>
            </p:nvSpPr>
            <p:spPr>
              <a:xfrm>
                <a:off x="3683793" y="2846250"/>
                <a:ext cx="1816487" cy="2934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FGW optimal transport</a:t>
                </a:r>
                <a:endParaRPr lang="en-DE" sz="1000" b="1" dirty="0"/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8B7C628-F7FD-4051-9115-555EEBC26214}"/>
                </a:ext>
              </a:extLst>
            </p:cNvPr>
            <p:cNvSpPr txBox="1"/>
            <p:nvPr/>
          </p:nvSpPr>
          <p:spPr>
            <a:xfrm>
              <a:off x="2256221" y="2532701"/>
              <a:ext cx="1256785" cy="2459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900" b="1" dirty="0">
                  <a:latin typeface="+mj-ea"/>
                  <a:ea typeface="+mj-ea"/>
                  <a:cs typeface="Calibri" panose="020F0502020204030204" pitchFamily="34" charset="0"/>
                </a:rPr>
                <a:t>scRNA-seq data</a:t>
              </a:r>
              <a:endParaRPr lang="en-DE" sz="900" b="1" dirty="0">
                <a:latin typeface="+mj-ea"/>
                <a:ea typeface="+mj-ea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F22222F-05F6-44BF-A646-10BEB83B6A7C}"/>
                </a:ext>
              </a:extLst>
            </p:cNvPr>
            <p:cNvSpPr txBox="1"/>
            <p:nvPr/>
          </p:nvSpPr>
          <p:spPr>
            <a:xfrm>
              <a:off x="4975744" y="2527320"/>
              <a:ext cx="2150916" cy="2539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ko" sz="900" b="1" dirty="0">
                  <a:latin typeface="+mj-ea"/>
                  <a:ea typeface="+mj-ea"/>
                  <a:cs typeface="Hanken Grotesk"/>
                  <a:sym typeface="Hanken Grotesk"/>
                </a:rPr>
                <a:t>Spatial transcriptomics data</a:t>
              </a:r>
              <a:endParaRPr lang="en-US" sz="900" dirty="0">
                <a:latin typeface="+mj-ea"/>
                <a:ea typeface="+mj-ea"/>
              </a:endParaRP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2B01DB5F-2E21-48CE-A11D-3F7DA0F9AC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578" y="2949432"/>
            <a:ext cx="1778262" cy="1638681"/>
          </a:xfrm>
          <a:prstGeom prst="rect">
            <a:avLst/>
          </a:prstGeom>
        </p:spPr>
      </p:pic>
      <p:sp>
        <p:nvSpPr>
          <p:cNvPr id="111" name="TextBox 110">
            <a:extLst>
              <a:ext uri="{FF2B5EF4-FFF2-40B4-BE49-F238E27FC236}">
                <a16:creationId xmlns:a16="http://schemas.microsoft.com/office/drawing/2014/main" id="{97AA2B31-366C-43A2-942A-738B906DCB7D}"/>
              </a:ext>
            </a:extLst>
          </p:cNvPr>
          <p:cNvSpPr txBox="1"/>
          <p:nvPr/>
        </p:nvSpPr>
        <p:spPr>
          <a:xfrm>
            <a:off x="1250736" y="2718434"/>
            <a:ext cx="1876469" cy="238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900" b="1" dirty="0">
                <a:latin typeface="+mj-ea"/>
                <a:ea typeface="+mj-ea"/>
                <a:cs typeface="Hanken Grotesk"/>
                <a:sym typeface="Hanken Grotesk"/>
              </a:rPr>
              <a:t>Spatial transcriptomics data</a:t>
            </a:r>
            <a:endParaRPr lang="en-US" sz="900" dirty="0">
              <a:latin typeface="+mj-ea"/>
              <a:ea typeface="+mj-ea"/>
            </a:endParaRPr>
          </a:p>
        </p:txBody>
      </p:sp>
      <p:sp>
        <p:nvSpPr>
          <p:cNvPr id="16" name="Google Shape;352;p44">
            <a:extLst>
              <a:ext uri="{FF2B5EF4-FFF2-40B4-BE49-F238E27FC236}">
                <a16:creationId xmlns:a16="http://schemas.microsoft.com/office/drawing/2014/main" id="{AA5FDF4D-0837-4EA8-8864-98DA3A6A72B2}"/>
              </a:ext>
            </a:extLst>
          </p:cNvPr>
          <p:cNvSpPr txBox="1">
            <a:spLocks/>
          </p:cNvSpPr>
          <p:nvPr/>
        </p:nvSpPr>
        <p:spPr>
          <a:xfrm>
            <a:off x="388838" y="297417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 Black"/>
              <a:buNone/>
              <a:defRPr sz="28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r>
              <a:rPr lang="ko-KR" altLang="en-US" b="1" dirty="0">
                <a:latin typeface="+mj-lt"/>
                <a:ea typeface="+mj-ea"/>
                <a:cs typeface="Hanken Grotesk Black"/>
                <a:sym typeface="Hanken Grotesk Black"/>
              </a:rPr>
              <a:t>학위 논문</a:t>
            </a:r>
            <a:r>
              <a:rPr lang="en-US" altLang="ko-KR" b="1" dirty="0">
                <a:latin typeface="+mj-lt"/>
                <a:ea typeface="+mj-ea"/>
                <a:cs typeface="Hanken Grotesk Black"/>
                <a:sym typeface="Hanken Grotesk Black"/>
              </a:rPr>
              <a:t>: Freie Universität Berlin</a:t>
            </a:r>
            <a:endParaRPr lang="en-US" b="1" dirty="0">
              <a:latin typeface="+mj-lt"/>
              <a:ea typeface="+mj-ea"/>
              <a:cs typeface="Hanken Grotesk Black"/>
              <a:sym typeface="Hanken Grotesk Black"/>
            </a:endParaRPr>
          </a:p>
        </p:txBody>
      </p:sp>
      <p:sp>
        <p:nvSpPr>
          <p:cNvPr id="17" name="Google Shape;367;p45">
            <a:extLst>
              <a:ext uri="{FF2B5EF4-FFF2-40B4-BE49-F238E27FC236}">
                <a16:creationId xmlns:a16="http://schemas.microsoft.com/office/drawing/2014/main" id="{56E54A9E-EB18-43DD-A38F-4C5E5C58CDDD}"/>
              </a:ext>
            </a:extLst>
          </p:cNvPr>
          <p:cNvSpPr txBox="1"/>
          <p:nvPr/>
        </p:nvSpPr>
        <p:spPr>
          <a:xfrm>
            <a:off x="464545" y="808047"/>
            <a:ext cx="7933800" cy="38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1200" b="1" dirty="0">
                <a:solidFill>
                  <a:srgbClr val="333333"/>
                </a:solidFill>
                <a:latin typeface="+mj-lt"/>
                <a:ea typeface="+mj-ea"/>
                <a:cs typeface="Hanken Grotesk"/>
                <a:sym typeface="Hanken Grotesk"/>
              </a:rPr>
              <a:t>scRNA-seq</a:t>
            </a:r>
            <a:r>
              <a:rPr lang="ko-KR" altLang="en-US" sz="1200" b="1" dirty="0">
                <a:solidFill>
                  <a:srgbClr val="333333"/>
                </a:solidFill>
                <a:latin typeface="+mj-lt"/>
                <a:ea typeface="+mj-ea"/>
                <a:cs typeface="Hanken Grotesk"/>
                <a:sym typeface="Hanken Grotesk"/>
              </a:rPr>
              <a:t>와 </a:t>
            </a:r>
            <a:r>
              <a:rPr lang="en-US" altLang="ko" sz="1200" b="1" dirty="0">
                <a:solidFill>
                  <a:srgbClr val="333333"/>
                </a:solidFill>
                <a:latin typeface="+mj-lt"/>
                <a:ea typeface="+mj-ea"/>
                <a:cs typeface="Hanken Grotesk"/>
                <a:sym typeface="Hanken Grotesk"/>
              </a:rPr>
              <a:t>spatial transcriptomics </a:t>
            </a:r>
            <a:r>
              <a:rPr lang="ko-KR" altLang="en-US" sz="1200" b="1" dirty="0">
                <a:solidFill>
                  <a:srgbClr val="333333"/>
                </a:solidFill>
                <a:latin typeface="+mj-lt"/>
                <a:ea typeface="+mj-ea"/>
                <a:cs typeface="Hanken Grotesk"/>
                <a:sym typeface="Hanken Grotesk"/>
              </a:rPr>
              <a:t>간 </a:t>
            </a:r>
            <a:r>
              <a:rPr lang="en-US" altLang="ko" sz="1200" b="1" dirty="0">
                <a:solidFill>
                  <a:srgbClr val="333333"/>
                </a:solidFill>
                <a:latin typeface="+mj-lt"/>
                <a:ea typeface="+mj-ea"/>
                <a:cs typeface="Hanken Grotesk"/>
                <a:sym typeface="Hanken Grotesk"/>
              </a:rPr>
              <a:t>robust mapping </a:t>
            </a:r>
            <a:r>
              <a:rPr lang="ko-KR" altLang="en-US" sz="1200" b="1" dirty="0">
                <a:solidFill>
                  <a:srgbClr val="333333"/>
                </a:solidFill>
                <a:latin typeface="+mj-lt"/>
                <a:ea typeface="+mj-ea"/>
                <a:cs typeface="Hanken Grotesk"/>
                <a:sym typeface="Hanken Grotesk"/>
              </a:rPr>
              <a:t>연구</a:t>
            </a:r>
            <a:endParaRPr sz="1200" b="1" dirty="0">
              <a:solidFill>
                <a:srgbClr val="FF0000"/>
              </a:solidFill>
              <a:latin typeface="+mj-lt"/>
              <a:ea typeface="+mj-ea"/>
              <a:cs typeface="Hanken Grotesk"/>
              <a:sym typeface="Hanken Grotesk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1EEA2C-D79B-472A-80DB-90D2712A5758}"/>
              </a:ext>
            </a:extLst>
          </p:cNvPr>
          <p:cNvSpPr txBox="1"/>
          <p:nvPr/>
        </p:nvSpPr>
        <p:spPr>
          <a:xfrm>
            <a:off x="1456267" y="2132759"/>
            <a:ext cx="504613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/>
              <a:t>FGW: </a:t>
            </a:r>
            <a:r>
              <a:rPr lang="ko-KR" altLang="en-US" sz="900" dirty="0"/>
              <a:t>값의 유사도와 데이터 내부 구조를 함께 고려해 두 데이터를 더 안정적으로 연결하는 방법</a:t>
            </a:r>
            <a:endParaRPr lang="en-DE" sz="900" dirty="0"/>
          </a:p>
        </p:txBody>
      </p:sp>
    </p:spTree>
    <p:extLst>
      <p:ext uri="{BB962C8B-B14F-4D97-AF65-F5344CB8AC3E}">
        <p14:creationId xmlns:p14="http://schemas.microsoft.com/office/powerpoint/2010/main" val="1407179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4DF730-F7D7-404F-A0D8-CE9D38D7C1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3000" y="1987858"/>
            <a:ext cx="5670950" cy="281292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CFF44B5-CFE8-45F9-9707-E60E6821ED27}"/>
              </a:ext>
            </a:extLst>
          </p:cNvPr>
          <p:cNvSpPr/>
          <p:nvPr/>
        </p:nvSpPr>
        <p:spPr>
          <a:xfrm>
            <a:off x="1670050" y="2872365"/>
            <a:ext cx="6019800" cy="72990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3" name="Google Shape;368;p45">
            <a:extLst>
              <a:ext uri="{FF2B5EF4-FFF2-40B4-BE49-F238E27FC236}">
                <a16:creationId xmlns:a16="http://schemas.microsoft.com/office/drawing/2014/main" id="{D3B4CF7E-40B9-404C-8FE7-A5E535B316E8}"/>
              </a:ext>
            </a:extLst>
          </p:cNvPr>
          <p:cNvSpPr txBox="1"/>
          <p:nvPr/>
        </p:nvSpPr>
        <p:spPr>
          <a:xfrm>
            <a:off x="783575" y="1065979"/>
            <a:ext cx="7638900" cy="806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1" dirty="0">
                <a:solidFill>
                  <a:srgbClr val="434343"/>
                </a:solidFill>
                <a:latin typeface="+mj-lt"/>
                <a:ea typeface="+mj-ea"/>
                <a:cs typeface="Hanken Grotesk"/>
                <a:sym typeface="Hanken Grotesk"/>
              </a:rPr>
              <a:t>결과</a:t>
            </a: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+mj-lt"/>
                <a:ea typeface="+mj-ea"/>
                <a:cs typeface="Hanken Grotesk"/>
                <a:sym typeface="Hanken Grotesk"/>
              </a:rPr>
              <a:t>제안한 방법은 정답 주석 결과</a:t>
            </a:r>
            <a:r>
              <a:rPr lang="en-US" altLang="ko-KR" sz="900" dirty="0">
                <a:latin typeface="+mj-lt"/>
                <a:ea typeface="+mj-ea"/>
                <a:cs typeface="Hanken Grotesk"/>
                <a:sym typeface="Hanken Grotesk"/>
              </a:rPr>
              <a:t>(Annotated Result)</a:t>
            </a:r>
            <a:r>
              <a:rPr lang="ko-KR" altLang="en-US" sz="900" dirty="0">
                <a:latin typeface="+mj-lt"/>
                <a:ea typeface="+mj-ea"/>
                <a:cs typeface="Hanken Grotesk"/>
                <a:sym typeface="Hanken Grotesk"/>
              </a:rPr>
              <a:t>에 가까운 공간 패턴을 더 안정적으로 복원했습니다</a:t>
            </a:r>
            <a:r>
              <a:rPr lang="en-US" altLang="ko-KR" sz="900" dirty="0">
                <a:latin typeface="+mj-lt"/>
                <a:ea typeface="+mj-ea"/>
                <a:cs typeface="Hanken Grotesk"/>
                <a:sym typeface="Hanken Grotesk"/>
              </a:rPr>
              <a:t>.</a:t>
            </a: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+mj-lt"/>
                <a:ea typeface="+mj-ea"/>
                <a:cs typeface="Hanken Grotesk"/>
                <a:sym typeface="Hanken Grotesk"/>
              </a:rPr>
              <a:t>특히 중앙 영역의 구조와 경계가 </a:t>
            </a:r>
            <a:r>
              <a:rPr lang="en-US" altLang="ko-KR" sz="900" dirty="0">
                <a:latin typeface="+mj-lt"/>
                <a:ea typeface="+mj-ea"/>
                <a:cs typeface="Hanken Grotesk"/>
                <a:sym typeface="Hanken Grotesk"/>
              </a:rPr>
              <a:t>baseline(Moscot, Tangram) </a:t>
            </a:r>
            <a:r>
              <a:rPr lang="ko-KR" altLang="en-US" sz="900" dirty="0">
                <a:latin typeface="+mj-lt"/>
                <a:ea typeface="+mj-ea"/>
                <a:cs typeface="Hanken Grotesk"/>
                <a:sym typeface="Hanken Grotesk"/>
              </a:rPr>
              <a:t>대비 더 안정적으로 복원되었습니다</a:t>
            </a:r>
            <a:r>
              <a:rPr lang="en-US" altLang="ko-KR" sz="900" dirty="0">
                <a:latin typeface="+mj-lt"/>
                <a:ea typeface="+mj-ea"/>
                <a:cs typeface="Hanken Grotesk"/>
                <a:sym typeface="Hanken Grotesk"/>
              </a:rPr>
              <a:t>.</a:t>
            </a:r>
            <a:endParaRPr lang="ko-KR" altLang="en-US" sz="900" dirty="0">
              <a:latin typeface="+mj-lt"/>
              <a:ea typeface="+mj-ea"/>
              <a:cs typeface="Hanken Grotesk"/>
              <a:sym typeface="Hanken Grotesk"/>
            </a:endParaRPr>
          </a:p>
        </p:txBody>
      </p:sp>
      <p:sp>
        <p:nvSpPr>
          <p:cNvPr id="10" name="Google Shape;352;p44">
            <a:extLst>
              <a:ext uri="{FF2B5EF4-FFF2-40B4-BE49-F238E27FC236}">
                <a16:creationId xmlns:a16="http://schemas.microsoft.com/office/drawing/2014/main" id="{A6988D02-82D3-4E74-A46C-61B740BCC9A3}"/>
              </a:ext>
            </a:extLst>
          </p:cNvPr>
          <p:cNvSpPr txBox="1">
            <a:spLocks/>
          </p:cNvSpPr>
          <p:nvPr/>
        </p:nvSpPr>
        <p:spPr>
          <a:xfrm>
            <a:off x="388838" y="297417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 Black"/>
              <a:buNone/>
              <a:defRPr sz="28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r>
              <a:rPr lang="ko-KR" altLang="en-US" b="1" dirty="0">
                <a:latin typeface="+mj-lt"/>
                <a:ea typeface="+mj-ea"/>
                <a:cs typeface="Hanken Grotesk Black"/>
                <a:sym typeface="Hanken Grotesk Black"/>
              </a:rPr>
              <a:t>학위 논문</a:t>
            </a:r>
            <a:r>
              <a:rPr lang="en-US" altLang="ko-KR" b="1" dirty="0">
                <a:latin typeface="+mj-lt"/>
                <a:ea typeface="+mj-ea"/>
                <a:cs typeface="Hanken Grotesk Black"/>
                <a:sym typeface="Hanken Grotesk Black"/>
              </a:rPr>
              <a:t>: Freie Universität Berlin</a:t>
            </a:r>
            <a:endParaRPr lang="en-US" b="1" dirty="0">
              <a:latin typeface="+mj-lt"/>
              <a:ea typeface="+mj-ea"/>
              <a:cs typeface="Hanken Grotesk Black"/>
              <a:sym typeface="Hanken Grotesk Black"/>
            </a:endParaRPr>
          </a:p>
        </p:txBody>
      </p:sp>
      <p:sp>
        <p:nvSpPr>
          <p:cNvPr id="11" name="Google Shape;367;p45">
            <a:extLst>
              <a:ext uri="{FF2B5EF4-FFF2-40B4-BE49-F238E27FC236}">
                <a16:creationId xmlns:a16="http://schemas.microsoft.com/office/drawing/2014/main" id="{053CBC06-CC1C-440A-B9ED-0EEB8BBF27A9}"/>
              </a:ext>
            </a:extLst>
          </p:cNvPr>
          <p:cNvSpPr txBox="1"/>
          <p:nvPr/>
        </p:nvSpPr>
        <p:spPr>
          <a:xfrm>
            <a:off x="464545" y="808047"/>
            <a:ext cx="7933800" cy="38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1200" b="1" dirty="0">
                <a:solidFill>
                  <a:srgbClr val="333333"/>
                </a:solidFill>
                <a:latin typeface="+mj-lt"/>
                <a:ea typeface="+mj-ea"/>
                <a:cs typeface="Hanken Grotesk"/>
                <a:sym typeface="Hanken Grotesk"/>
              </a:rPr>
              <a:t>scRNA-seq</a:t>
            </a:r>
            <a:r>
              <a:rPr lang="ko-KR" altLang="en-US" sz="1200" b="1" dirty="0">
                <a:solidFill>
                  <a:srgbClr val="333333"/>
                </a:solidFill>
                <a:latin typeface="+mj-lt"/>
                <a:ea typeface="+mj-ea"/>
                <a:cs typeface="Hanken Grotesk"/>
                <a:sym typeface="Hanken Grotesk"/>
              </a:rPr>
              <a:t>와 </a:t>
            </a:r>
            <a:r>
              <a:rPr lang="en-US" altLang="ko" sz="1200" b="1" dirty="0">
                <a:solidFill>
                  <a:srgbClr val="333333"/>
                </a:solidFill>
                <a:latin typeface="+mj-lt"/>
                <a:ea typeface="+mj-ea"/>
                <a:cs typeface="Hanken Grotesk"/>
                <a:sym typeface="Hanken Grotesk"/>
              </a:rPr>
              <a:t>spatial transcriptomics </a:t>
            </a:r>
            <a:r>
              <a:rPr lang="ko-KR" altLang="en-US" sz="1200" b="1" dirty="0">
                <a:solidFill>
                  <a:srgbClr val="333333"/>
                </a:solidFill>
                <a:latin typeface="+mj-lt"/>
                <a:ea typeface="+mj-ea"/>
                <a:cs typeface="Hanken Grotesk"/>
                <a:sym typeface="Hanken Grotesk"/>
              </a:rPr>
              <a:t>간 </a:t>
            </a:r>
            <a:r>
              <a:rPr lang="en-US" altLang="ko" sz="1200" b="1" dirty="0">
                <a:solidFill>
                  <a:srgbClr val="333333"/>
                </a:solidFill>
                <a:latin typeface="+mj-lt"/>
                <a:ea typeface="+mj-ea"/>
                <a:cs typeface="Hanken Grotesk"/>
                <a:sym typeface="Hanken Grotesk"/>
              </a:rPr>
              <a:t>robust mapping </a:t>
            </a:r>
            <a:r>
              <a:rPr lang="ko-KR" altLang="en-US" sz="1200" b="1" dirty="0">
                <a:solidFill>
                  <a:srgbClr val="333333"/>
                </a:solidFill>
                <a:latin typeface="+mj-lt"/>
                <a:ea typeface="+mj-ea"/>
                <a:cs typeface="Hanken Grotesk"/>
                <a:sym typeface="Hanken Grotesk"/>
              </a:rPr>
              <a:t>연구</a:t>
            </a:r>
            <a:endParaRPr sz="1200" b="1" dirty="0">
              <a:solidFill>
                <a:srgbClr val="FF0000"/>
              </a:solidFill>
              <a:latin typeface="+mj-lt"/>
              <a:ea typeface="+mj-ea"/>
              <a:cs typeface="Hanken Grotesk"/>
              <a:sym typeface="Hanken Grotesk"/>
            </a:endParaRPr>
          </a:p>
        </p:txBody>
      </p:sp>
    </p:spTree>
    <p:extLst>
      <p:ext uri="{BB962C8B-B14F-4D97-AF65-F5344CB8AC3E}">
        <p14:creationId xmlns:p14="http://schemas.microsoft.com/office/powerpoint/2010/main" val="379799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68;p45">
            <a:extLst>
              <a:ext uri="{FF2B5EF4-FFF2-40B4-BE49-F238E27FC236}">
                <a16:creationId xmlns:a16="http://schemas.microsoft.com/office/drawing/2014/main" id="{16EB15A1-755D-49D3-A14A-E7A7BD8C20F3}"/>
              </a:ext>
            </a:extLst>
          </p:cNvPr>
          <p:cNvSpPr txBox="1"/>
          <p:nvPr/>
        </p:nvSpPr>
        <p:spPr>
          <a:xfrm>
            <a:off x="785100" y="1142210"/>
            <a:ext cx="7638900" cy="806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1" dirty="0">
                <a:solidFill>
                  <a:srgbClr val="434343"/>
                </a:solidFill>
                <a:latin typeface="+mn-lt"/>
                <a:ea typeface="+mj-ea"/>
                <a:cs typeface="Hanken Grotesk"/>
                <a:sym typeface="Hanken Grotesk"/>
              </a:rPr>
              <a:t>정량적 결과</a:t>
            </a: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+mn-lt"/>
                <a:ea typeface="+mj-ea"/>
                <a:cs typeface="Hanken Grotesk"/>
                <a:sym typeface="Hanken Grotesk"/>
              </a:rPr>
              <a:t>일부 데이터를 제외한 검증</a:t>
            </a:r>
            <a:r>
              <a:rPr lang="en-US" altLang="ko-KR" sz="900" dirty="0">
                <a:latin typeface="+mn-lt"/>
                <a:ea typeface="+mj-ea"/>
                <a:cs typeface="Hanken Grotesk"/>
                <a:sym typeface="Hanken Grotesk"/>
              </a:rPr>
              <a:t> (Leave-One-Out Cross-Validation, LOO-CV) </a:t>
            </a:r>
            <a:r>
              <a:rPr lang="ko-KR" altLang="en-US" sz="900" dirty="0">
                <a:latin typeface="+mn-lt"/>
                <a:ea typeface="+mj-ea"/>
                <a:cs typeface="Hanken Grotesk"/>
                <a:sym typeface="Hanken Grotesk"/>
              </a:rPr>
              <a:t>에서도 유전자별 예측 성능이 안정적으로 유지되었습니다</a:t>
            </a:r>
            <a:r>
              <a:rPr lang="en-US" altLang="ko-KR" sz="900" dirty="0">
                <a:latin typeface="+mn-lt"/>
                <a:ea typeface="+mj-ea"/>
                <a:cs typeface="Hanken Grotesk"/>
                <a:sym typeface="Hanken Grotesk"/>
              </a:rPr>
              <a:t>.</a:t>
            </a: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+mn-lt"/>
                <a:ea typeface="+mj-ea"/>
                <a:cs typeface="Hanken Grotesk"/>
                <a:sym typeface="Hanken Grotesk"/>
              </a:rPr>
              <a:t>유전자별 예측 성능은 </a:t>
            </a:r>
            <a:r>
              <a:rPr lang="en-US" altLang="ko-KR" sz="900" dirty="0">
                <a:latin typeface="+mn-lt"/>
                <a:ea typeface="+mj-ea"/>
                <a:cs typeface="Hanken Grotesk"/>
                <a:sym typeface="Hanken Grotesk"/>
              </a:rPr>
              <a:t>baseline </a:t>
            </a:r>
            <a:r>
              <a:rPr lang="ko-KR" altLang="en-US" sz="900" dirty="0">
                <a:latin typeface="+mn-lt"/>
                <a:ea typeface="+mj-ea"/>
                <a:cs typeface="Hanken Grotesk"/>
                <a:sym typeface="Hanken Grotesk"/>
              </a:rPr>
              <a:t>대비 전반적으로 향상되었습니다</a:t>
            </a:r>
            <a:r>
              <a:rPr lang="en-US" altLang="ko-KR" sz="900" dirty="0">
                <a:latin typeface="+mn-lt"/>
                <a:ea typeface="+mj-ea"/>
                <a:cs typeface="Hanken Grotesk"/>
                <a:sym typeface="Hanken Grotesk"/>
              </a:rPr>
              <a:t>.</a:t>
            </a:r>
            <a:endParaRPr lang="ko-KR" altLang="en-US" sz="900" dirty="0">
              <a:latin typeface="+mn-lt"/>
              <a:ea typeface="+mj-ea"/>
              <a:cs typeface="Hanken Grotesk"/>
              <a:sym typeface="Hanken Grotesk"/>
            </a:endParaRPr>
          </a:p>
        </p:txBody>
      </p:sp>
      <p:sp>
        <p:nvSpPr>
          <p:cNvPr id="12" name="Google Shape;352;p44">
            <a:extLst>
              <a:ext uri="{FF2B5EF4-FFF2-40B4-BE49-F238E27FC236}">
                <a16:creationId xmlns:a16="http://schemas.microsoft.com/office/drawing/2014/main" id="{E94729D8-C397-4166-88FF-7665F6B58773}"/>
              </a:ext>
            </a:extLst>
          </p:cNvPr>
          <p:cNvSpPr txBox="1">
            <a:spLocks/>
          </p:cNvSpPr>
          <p:nvPr/>
        </p:nvSpPr>
        <p:spPr>
          <a:xfrm>
            <a:off x="388838" y="297417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 Black"/>
              <a:buNone/>
              <a:defRPr sz="28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r>
              <a:rPr lang="ko-KR" altLang="en-US" b="1" dirty="0">
                <a:latin typeface="+mj-lt"/>
                <a:ea typeface="+mj-ea"/>
                <a:cs typeface="Hanken Grotesk Black"/>
                <a:sym typeface="Hanken Grotesk Black"/>
              </a:rPr>
              <a:t>학위 논문</a:t>
            </a:r>
            <a:r>
              <a:rPr lang="en-US" altLang="ko-KR" b="1" dirty="0">
                <a:latin typeface="+mj-lt"/>
                <a:ea typeface="+mj-ea"/>
                <a:cs typeface="Hanken Grotesk Black"/>
                <a:sym typeface="Hanken Grotesk Black"/>
              </a:rPr>
              <a:t>: Freie Universität Berlin</a:t>
            </a:r>
            <a:endParaRPr lang="en-US" b="1" dirty="0">
              <a:latin typeface="+mj-lt"/>
              <a:ea typeface="+mj-ea"/>
              <a:cs typeface="Hanken Grotesk Black"/>
              <a:sym typeface="Hanken Grotesk Black"/>
            </a:endParaRPr>
          </a:p>
        </p:txBody>
      </p:sp>
      <p:sp>
        <p:nvSpPr>
          <p:cNvPr id="13" name="Google Shape;367;p45">
            <a:extLst>
              <a:ext uri="{FF2B5EF4-FFF2-40B4-BE49-F238E27FC236}">
                <a16:creationId xmlns:a16="http://schemas.microsoft.com/office/drawing/2014/main" id="{698D1784-BF02-4B68-A19B-0092B79AFB39}"/>
              </a:ext>
            </a:extLst>
          </p:cNvPr>
          <p:cNvSpPr txBox="1"/>
          <p:nvPr/>
        </p:nvSpPr>
        <p:spPr>
          <a:xfrm>
            <a:off x="464545" y="808047"/>
            <a:ext cx="7933800" cy="38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1200" b="1" dirty="0">
                <a:solidFill>
                  <a:srgbClr val="333333"/>
                </a:solidFill>
                <a:latin typeface="+mj-lt"/>
                <a:ea typeface="+mj-ea"/>
                <a:cs typeface="Hanken Grotesk"/>
                <a:sym typeface="Hanken Grotesk"/>
              </a:rPr>
              <a:t>scRNA-seq</a:t>
            </a:r>
            <a:r>
              <a:rPr lang="ko-KR" altLang="en-US" sz="1200" b="1" dirty="0">
                <a:solidFill>
                  <a:srgbClr val="333333"/>
                </a:solidFill>
                <a:latin typeface="+mj-lt"/>
                <a:ea typeface="+mj-ea"/>
                <a:cs typeface="Hanken Grotesk"/>
                <a:sym typeface="Hanken Grotesk"/>
              </a:rPr>
              <a:t>와 </a:t>
            </a:r>
            <a:r>
              <a:rPr lang="en-US" altLang="ko" sz="1200" b="1" dirty="0">
                <a:solidFill>
                  <a:srgbClr val="333333"/>
                </a:solidFill>
                <a:latin typeface="+mj-lt"/>
                <a:ea typeface="+mj-ea"/>
                <a:cs typeface="Hanken Grotesk"/>
                <a:sym typeface="Hanken Grotesk"/>
              </a:rPr>
              <a:t>spatial transcriptomics </a:t>
            </a:r>
            <a:r>
              <a:rPr lang="ko-KR" altLang="en-US" sz="1200" b="1" dirty="0">
                <a:solidFill>
                  <a:srgbClr val="333333"/>
                </a:solidFill>
                <a:latin typeface="+mj-lt"/>
                <a:ea typeface="+mj-ea"/>
                <a:cs typeface="Hanken Grotesk"/>
                <a:sym typeface="Hanken Grotesk"/>
              </a:rPr>
              <a:t>간 </a:t>
            </a:r>
            <a:r>
              <a:rPr lang="en-US" altLang="ko" sz="1200" b="1" dirty="0">
                <a:solidFill>
                  <a:srgbClr val="333333"/>
                </a:solidFill>
                <a:latin typeface="+mj-lt"/>
                <a:ea typeface="+mj-ea"/>
                <a:cs typeface="Hanken Grotesk"/>
                <a:sym typeface="Hanken Grotesk"/>
              </a:rPr>
              <a:t>robust mapping </a:t>
            </a:r>
            <a:r>
              <a:rPr lang="ko-KR" altLang="en-US" sz="1200" b="1" dirty="0">
                <a:solidFill>
                  <a:srgbClr val="333333"/>
                </a:solidFill>
                <a:latin typeface="+mj-lt"/>
                <a:ea typeface="+mj-ea"/>
                <a:cs typeface="Hanken Grotesk"/>
                <a:sym typeface="Hanken Grotesk"/>
              </a:rPr>
              <a:t>연구</a:t>
            </a:r>
            <a:endParaRPr sz="1200" b="1" dirty="0">
              <a:solidFill>
                <a:srgbClr val="FF0000"/>
              </a:solidFill>
              <a:latin typeface="+mj-lt"/>
              <a:ea typeface="+mj-ea"/>
              <a:cs typeface="Hanken Grotesk"/>
              <a:sym typeface="Hanken Grotesk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84C968-5F2F-4E71-9385-DC200B1A8318}"/>
              </a:ext>
            </a:extLst>
          </p:cNvPr>
          <p:cNvSpPr txBox="1"/>
          <p:nvPr/>
        </p:nvSpPr>
        <p:spPr>
          <a:xfrm>
            <a:off x="464545" y="4526893"/>
            <a:ext cx="37067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900" dirty="0">
                <a:latin typeface="+mn-lt"/>
              </a:rPr>
              <a:t>LOO-CV: </a:t>
            </a:r>
            <a:r>
              <a:rPr lang="ko-KR" altLang="en-US" sz="900" dirty="0">
                <a:latin typeface="+mn-lt"/>
              </a:rPr>
              <a:t>일부 데이터를 제외하고 다시 예측해보는 검증 방식</a:t>
            </a:r>
            <a:endParaRPr lang="en-US" altLang="ko-KR" sz="900" dirty="0">
              <a:latin typeface="+mn-lt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900" dirty="0">
                <a:latin typeface="+mn-lt"/>
              </a:rPr>
              <a:t>gene-wise correlation: </a:t>
            </a:r>
            <a:r>
              <a:rPr lang="ko-KR" altLang="en-US" sz="900" dirty="0">
                <a:latin typeface="+mn-lt"/>
              </a:rPr>
              <a:t>유전자별 예측값과 실제값의 일치 정도</a:t>
            </a:r>
            <a:endParaRPr lang="en-DE" sz="900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090149-85A8-4543-9FFA-65B6CBB953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100" y="2007592"/>
            <a:ext cx="7691255" cy="2460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446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5AACC8-BCD7-4D70-B734-0E0DF3FBE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3621" y="2068630"/>
            <a:ext cx="5044712" cy="2688517"/>
          </a:xfrm>
          <a:prstGeom prst="rect">
            <a:avLst/>
          </a:prstGeom>
        </p:spPr>
      </p:pic>
      <p:sp>
        <p:nvSpPr>
          <p:cNvPr id="9" name="Google Shape;352;p44">
            <a:extLst>
              <a:ext uri="{FF2B5EF4-FFF2-40B4-BE49-F238E27FC236}">
                <a16:creationId xmlns:a16="http://schemas.microsoft.com/office/drawing/2014/main" id="{199EE34B-76A5-448B-A0C1-1EC45046DB25}"/>
              </a:ext>
            </a:extLst>
          </p:cNvPr>
          <p:cNvSpPr txBox="1">
            <a:spLocks/>
          </p:cNvSpPr>
          <p:nvPr/>
        </p:nvSpPr>
        <p:spPr>
          <a:xfrm>
            <a:off x="388838" y="297417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 Black"/>
              <a:buNone/>
              <a:defRPr sz="28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r>
              <a:rPr lang="ko-KR" altLang="en-US" b="1" dirty="0">
                <a:latin typeface="+mj-lt"/>
                <a:ea typeface="+mj-ea"/>
                <a:cs typeface="Hanken Grotesk Black"/>
                <a:sym typeface="Hanken Grotesk Black"/>
              </a:rPr>
              <a:t>학위 논문</a:t>
            </a:r>
            <a:r>
              <a:rPr lang="en-US" altLang="ko-KR" b="1" dirty="0">
                <a:latin typeface="+mj-lt"/>
                <a:ea typeface="+mj-ea"/>
                <a:cs typeface="Hanken Grotesk Black"/>
                <a:sym typeface="Hanken Grotesk Black"/>
              </a:rPr>
              <a:t>: Freie Universität Berlin</a:t>
            </a:r>
            <a:endParaRPr lang="en-US" b="1" dirty="0">
              <a:latin typeface="+mj-lt"/>
              <a:ea typeface="+mj-ea"/>
              <a:cs typeface="Hanken Grotesk Black"/>
              <a:sym typeface="Hanken Grotesk Black"/>
            </a:endParaRPr>
          </a:p>
        </p:txBody>
      </p:sp>
      <p:sp>
        <p:nvSpPr>
          <p:cNvPr id="10" name="Google Shape;367;p45">
            <a:extLst>
              <a:ext uri="{FF2B5EF4-FFF2-40B4-BE49-F238E27FC236}">
                <a16:creationId xmlns:a16="http://schemas.microsoft.com/office/drawing/2014/main" id="{640C2C8E-56C1-440D-B37C-F3E16DE75034}"/>
              </a:ext>
            </a:extLst>
          </p:cNvPr>
          <p:cNvSpPr txBox="1"/>
          <p:nvPr/>
        </p:nvSpPr>
        <p:spPr>
          <a:xfrm>
            <a:off x="464545" y="808047"/>
            <a:ext cx="7933800" cy="38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1200" b="1" dirty="0">
                <a:solidFill>
                  <a:srgbClr val="333333"/>
                </a:solidFill>
                <a:latin typeface="+mj-lt"/>
                <a:ea typeface="+mj-ea"/>
                <a:cs typeface="Hanken Grotesk"/>
                <a:sym typeface="Hanken Grotesk"/>
              </a:rPr>
              <a:t>scRNA-seq</a:t>
            </a:r>
            <a:r>
              <a:rPr lang="ko-KR" altLang="en-US" sz="1200" b="1" dirty="0">
                <a:solidFill>
                  <a:srgbClr val="333333"/>
                </a:solidFill>
                <a:latin typeface="+mj-lt"/>
                <a:ea typeface="+mj-ea"/>
                <a:cs typeface="Hanken Grotesk"/>
                <a:sym typeface="Hanken Grotesk"/>
              </a:rPr>
              <a:t>와 </a:t>
            </a:r>
            <a:r>
              <a:rPr lang="en-US" altLang="ko" sz="1200" b="1" dirty="0">
                <a:solidFill>
                  <a:srgbClr val="333333"/>
                </a:solidFill>
                <a:latin typeface="+mj-lt"/>
                <a:ea typeface="+mj-ea"/>
                <a:cs typeface="Hanken Grotesk"/>
                <a:sym typeface="Hanken Grotesk"/>
              </a:rPr>
              <a:t>spatial transcriptomics </a:t>
            </a:r>
            <a:r>
              <a:rPr lang="ko-KR" altLang="en-US" sz="1200" b="1" dirty="0">
                <a:solidFill>
                  <a:srgbClr val="333333"/>
                </a:solidFill>
                <a:latin typeface="+mj-lt"/>
                <a:ea typeface="+mj-ea"/>
                <a:cs typeface="Hanken Grotesk"/>
                <a:sym typeface="Hanken Grotesk"/>
              </a:rPr>
              <a:t>간 </a:t>
            </a:r>
            <a:r>
              <a:rPr lang="en-US" altLang="ko" sz="1200" b="1" dirty="0">
                <a:solidFill>
                  <a:srgbClr val="333333"/>
                </a:solidFill>
                <a:latin typeface="+mj-lt"/>
                <a:ea typeface="+mj-ea"/>
                <a:cs typeface="Hanken Grotesk"/>
                <a:sym typeface="Hanken Grotesk"/>
              </a:rPr>
              <a:t>robust mapping </a:t>
            </a:r>
            <a:r>
              <a:rPr lang="ko-KR" altLang="en-US" sz="1200" b="1" dirty="0">
                <a:solidFill>
                  <a:srgbClr val="333333"/>
                </a:solidFill>
                <a:latin typeface="+mj-lt"/>
                <a:ea typeface="+mj-ea"/>
                <a:cs typeface="Hanken Grotesk"/>
                <a:sym typeface="Hanken Grotesk"/>
              </a:rPr>
              <a:t>연구</a:t>
            </a:r>
            <a:endParaRPr sz="1200" b="1" dirty="0">
              <a:solidFill>
                <a:srgbClr val="FF0000"/>
              </a:solidFill>
              <a:latin typeface="+mj-lt"/>
              <a:ea typeface="+mj-ea"/>
              <a:cs typeface="Hanken Grotesk"/>
              <a:sym typeface="Hanken Grotesk"/>
            </a:endParaRPr>
          </a:p>
        </p:txBody>
      </p:sp>
      <p:sp>
        <p:nvSpPr>
          <p:cNvPr id="11" name="Google Shape;368;p45">
            <a:extLst>
              <a:ext uri="{FF2B5EF4-FFF2-40B4-BE49-F238E27FC236}">
                <a16:creationId xmlns:a16="http://schemas.microsoft.com/office/drawing/2014/main" id="{3CFBEED3-200F-46A2-BBC2-1F0C5F1A990C}"/>
              </a:ext>
            </a:extLst>
          </p:cNvPr>
          <p:cNvSpPr txBox="1"/>
          <p:nvPr/>
        </p:nvSpPr>
        <p:spPr>
          <a:xfrm>
            <a:off x="835152" y="1001707"/>
            <a:ext cx="7638900" cy="806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1" dirty="0">
                <a:solidFill>
                  <a:srgbClr val="434343"/>
                </a:solidFill>
                <a:latin typeface="+mj-lt"/>
                <a:ea typeface="+mj-ea"/>
                <a:cs typeface="Hanken Grotesk"/>
                <a:sym typeface="Hanken Grotesk"/>
              </a:rPr>
              <a:t>결과</a:t>
            </a: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+mj-lt"/>
                <a:ea typeface="+mj-ea"/>
                <a:cs typeface="Hanken Grotesk"/>
                <a:sym typeface="Hanken Grotesk"/>
              </a:rPr>
              <a:t>기존 웹 시각화 서버</a:t>
            </a:r>
            <a:r>
              <a:rPr lang="en-US" altLang="ko-KR" sz="900" dirty="0">
                <a:latin typeface="+mj-lt"/>
                <a:ea typeface="+mj-ea"/>
                <a:cs typeface="Hanken Grotesk"/>
                <a:sym typeface="Hanken Grotesk"/>
              </a:rPr>
              <a:t>(MCview, R Shiny </a:t>
            </a:r>
            <a:r>
              <a:rPr lang="ko-KR" altLang="en-US" sz="900" dirty="0">
                <a:latin typeface="+mj-lt"/>
                <a:ea typeface="+mj-ea"/>
                <a:cs typeface="Hanken Grotesk"/>
                <a:sym typeface="Hanken Grotesk"/>
              </a:rPr>
              <a:t>기반</a:t>
            </a:r>
            <a:r>
              <a:rPr lang="en-US" altLang="ko-KR" sz="900" dirty="0">
                <a:latin typeface="+mj-lt"/>
                <a:ea typeface="+mj-ea"/>
                <a:cs typeface="Hanken Grotesk"/>
                <a:sym typeface="Hanken Grotesk"/>
              </a:rPr>
              <a:t>)</a:t>
            </a:r>
            <a:r>
              <a:rPr lang="ko-KR" altLang="en-US" sz="900" dirty="0">
                <a:latin typeface="+mj-lt"/>
                <a:ea typeface="+mj-ea"/>
                <a:cs typeface="Hanken Grotesk"/>
                <a:sym typeface="Hanken Grotesk"/>
              </a:rPr>
              <a:t>에 매핑 결과 탐색 기능을 추가했습니다</a:t>
            </a:r>
            <a:r>
              <a:rPr lang="en-US" altLang="ko-KR" sz="900" dirty="0">
                <a:latin typeface="+mj-lt"/>
                <a:ea typeface="+mj-ea"/>
                <a:cs typeface="Hanken Grotesk"/>
                <a:sym typeface="Hanken Grotesk"/>
              </a:rPr>
              <a:t>.</a:t>
            </a: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-US" altLang="ko-KR" sz="900" dirty="0">
                <a:latin typeface="+mj-lt"/>
                <a:ea typeface="+mj-ea"/>
                <a:cs typeface="Hanken Grotesk"/>
                <a:sym typeface="Hanken Grotesk"/>
              </a:rPr>
              <a:t>2D projection, cell type </a:t>
            </a:r>
            <a:r>
              <a:rPr lang="ko-KR" altLang="en-US" sz="900" dirty="0">
                <a:latin typeface="+mj-lt"/>
                <a:ea typeface="+mj-ea"/>
                <a:cs typeface="Hanken Grotesk"/>
                <a:sym typeface="Hanken Grotesk"/>
              </a:rPr>
              <a:t>분포</a:t>
            </a:r>
            <a:r>
              <a:rPr lang="en-US" altLang="ko-KR" sz="900" dirty="0">
                <a:latin typeface="+mj-lt"/>
                <a:ea typeface="+mj-ea"/>
                <a:cs typeface="Hanken Grotesk"/>
                <a:sym typeface="Hanken Grotesk"/>
              </a:rPr>
              <a:t>, </a:t>
            </a:r>
            <a:r>
              <a:rPr lang="ko-KR" altLang="en-US" sz="900" dirty="0">
                <a:latin typeface="+mj-lt"/>
                <a:ea typeface="+mj-ea"/>
                <a:cs typeface="Hanken Grotesk"/>
                <a:sym typeface="Hanken Grotesk"/>
              </a:rPr>
              <a:t>유전자 발현 비교를 통해 결과를 직접 확인할 수 있도록 구성했습니다</a:t>
            </a:r>
            <a:r>
              <a:rPr lang="en-US" altLang="ko-KR" sz="900" dirty="0">
                <a:latin typeface="+mj-lt"/>
                <a:ea typeface="+mj-ea"/>
                <a:cs typeface="Hanken Grotesk"/>
                <a:sym typeface="Hanken Grotesk"/>
              </a:rPr>
              <a:t>.</a:t>
            </a:r>
            <a:endParaRPr lang="ko-KR" altLang="en-US" sz="900" dirty="0">
              <a:latin typeface="+mj-lt"/>
              <a:ea typeface="+mj-ea"/>
              <a:cs typeface="Hanken Grotesk"/>
              <a:sym typeface="Hanken Grotesk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8DABE0-FED8-4DA5-9A1A-7402180C3470}"/>
              </a:ext>
            </a:extLst>
          </p:cNvPr>
          <p:cNvSpPr txBox="1"/>
          <p:nvPr/>
        </p:nvSpPr>
        <p:spPr>
          <a:xfrm>
            <a:off x="2989663" y="1824670"/>
            <a:ext cx="305646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b="1" dirty="0"/>
              <a:t>매핑 결과 탐색 기능을 추가한 웹 시각화 서버 화면</a:t>
            </a:r>
            <a:endParaRPr lang="en-DE" sz="900" b="1" dirty="0"/>
          </a:p>
        </p:txBody>
      </p:sp>
    </p:spTree>
    <p:extLst>
      <p:ext uri="{BB962C8B-B14F-4D97-AF65-F5344CB8AC3E}">
        <p14:creationId xmlns:p14="http://schemas.microsoft.com/office/powerpoint/2010/main" val="1204388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367;p45">
            <a:extLst>
              <a:ext uri="{FF2B5EF4-FFF2-40B4-BE49-F238E27FC236}">
                <a16:creationId xmlns:a16="http://schemas.microsoft.com/office/drawing/2014/main" id="{577B8A81-B713-4693-9CDF-5A0BC93F357E}"/>
              </a:ext>
            </a:extLst>
          </p:cNvPr>
          <p:cNvSpPr txBox="1"/>
          <p:nvPr/>
        </p:nvSpPr>
        <p:spPr>
          <a:xfrm>
            <a:off x="464545" y="808047"/>
            <a:ext cx="7933800" cy="38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333333"/>
                </a:solidFill>
                <a:latin typeface="+mj-lt"/>
                <a:ea typeface="+mj-ea"/>
                <a:cs typeface="Hanken Grotesk"/>
                <a:sym typeface="Hanken Grotesk"/>
              </a:rPr>
              <a:t>텍스트 마이닝 기반 </a:t>
            </a:r>
            <a:r>
              <a:rPr lang="en-US" altLang="ko-KR" sz="1200" b="1" dirty="0">
                <a:solidFill>
                  <a:srgbClr val="333333"/>
                </a:solidFill>
                <a:latin typeface="+mj-lt"/>
                <a:ea typeface="+mj-ea"/>
                <a:cs typeface="Hanken Grotesk"/>
                <a:sym typeface="Hanken Grotesk"/>
              </a:rPr>
              <a:t>drug mechanism </a:t>
            </a:r>
            <a:r>
              <a:rPr lang="ko-KR" altLang="en-US" sz="1200" b="1" dirty="0">
                <a:solidFill>
                  <a:srgbClr val="333333"/>
                </a:solidFill>
                <a:latin typeface="+mj-lt"/>
                <a:ea typeface="+mj-ea"/>
                <a:cs typeface="Hanken Grotesk"/>
                <a:sym typeface="Hanken Grotesk"/>
              </a:rPr>
              <a:t>데이터베이스 구축 연구</a:t>
            </a:r>
            <a:endParaRPr lang="en-US" altLang="ko" sz="1200" b="1" dirty="0">
              <a:solidFill>
                <a:srgbClr val="333333"/>
              </a:solidFill>
              <a:latin typeface="+mj-lt"/>
              <a:ea typeface="+mj-ea"/>
              <a:cs typeface="Hanken Grotesk"/>
              <a:sym typeface="Hanken Grotesk"/>
            </a:endParaRPr>
          </a:p>
        </p:txBody>
      </p:sp>
      <p:sp>
        <p:nvSpPr>
          <p:cNvPr id="9" name="Google Shape;368;p45">
            <a:extLst>
              <a:ext uri="{FF2B5EF4-FFF2-40B4-BE49-F238E27FC236}">
                <a16:creationId xmlns:a16="http://schemas.microsoft.com/office/drawing/2014/main" id="{87C8E76F-652A-48E2-B8F9-BFF229C97A39}"/>
              </a:ext>
            </a:extLst>
          </p:cNvPr>
          <p:cNvSpPr txBox="1"/>
          <p:nvPr/>
        </p:nvSpPr>
        <p:spPr>
          <a:xfrm>
            <a:off x="720000" y="1155685"/>
            <a:ext cx="7079650" cy="769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j-lt"/>
                <a:ea typeface="+mj-ea"/>
                <a:cs typeface="Hanken Grotesk"/>
                <a:sym typeface="Hanken Grotesk"/>
              </a:rPr>
              <a:t>비정형 </a:t>
            </a:r>
            <a:r>
              <a:rPr lang="en-US" altLang="ko-KR" sz="900" b="1" dirty="0">
                <a:latin typeface="+mj-lt"/>
                <a:ea typeface="+mj-ea"/>
                <a:cs typeface="Hanken Grotesk"/>
                <a:sym typeface="Hanken Grotesk"/>
              </a:rPr>
              <a:t>biomedical text</a:t>
            </a:r>
            <a:r>
              <a:rPr lang="ko-KR" altLang="en-US" sz="900" dirty="0">
                <a:latin typeface="+mj-lt"/>
                <a:ea typeface="+mj-ea"/>
                <a:cs typeface="Hanken Grotesk"/>
                <a:sym typeface="Hanken Grotesk"/>
              </a:rPr>
              <a:t>는 정보가 흩어져 있어 직접 활용하기 어렵습니다</a:t>
            </a:r>
            <a:r>
              <a:rPr lang="en-US" altLang="ko-KR" sz="900" dirty="0">
                <a:latin typeface="+mj-lt"/>
                <a:ea typeface="+mj-ea"/>
                <a:cs typeface="Hanken Grotesk"/>
                <a:sym typeface="Hanken Grotesk"/>
              </a:rPr>
              <a:t>.</a:t>
            </a: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+mj-lt"/>
                <a:ea typeface="+mj-ea"/>
                <a:cs typeface="Hanken Grotesk"/>
                <a:sym typeface="Hanken Grotesk"/>
              </a:rPr>
              <a:t>텍스트 마이닝 도구와 </a:t>
            </a:r>
            <a:r>
              <a:rPr lang="en-US" altLang="ko-KR" sz="900" dirty="0">
                <a:latin typeface="+mj-lt"/>
                <a:ea typeface="+mj-ea"/>
                <a:cs typeface="Hanken Grotesk"/>
                <a:sym typeface="Hanken Grotesk"/>
              </a:rPr>
              <a:t>rule </a:t>
            </a:r>
            <a:r>
              <a:rPr lang="ko-KR" altLang="en-US" sz="900" dirty="0">
                <a:latin typeface="+mj-lt"/>
                <a:ea typeface="+mj-ea"/>
                <a:cs typeface="Hanken Grotesk"/>
                <a:sym typeface="Hanken Grotesk"/>
              </a:rPr>
              <a:t>기반 파이프라인을 결합해 </a:t>
            </a:r>
            <a:r>
              <a:rPr lang="ko-KR" altLang="en-US" sz="900" b="1" dirty="0">
                <a:latin typeface="+mj-lt"/>
                <a:ea typeface="+mj-ea"/>
                <a:cs typeface="Hanken Grotesk"/>
                <a:sym typeface="Hanken Grotesk"/>
              </a:rPr>
              <a:t>핵심 정보를 추출하고 구조화</a:t>
            </a:r>
            <a:r>
              <a:rPr lang="ko-KR" altLang="en-US" sz="900" dirty="0">
                <a:latin typeface="+mj-lt"/>
                <a:ea typeface="+mj-ea"/>
                <a:cs typeface="Hanken Grotesk"/>
                <a:sym typeface="Hanken Grotesk"/>
              </a:rPr>
              <a:t>했습니다</a:t>
            </a:r>
            <a:r>
              <a:rPr lang="en-US" altLang="ko-KR" sz="900" dirty="0">
                <a:latin typeface="+mj-lt"/>
                <a:ea typeface="+mj-ea"/>
                <a:cs typeface="Hanken Grotesk"/>
                <a:sym typeface="Hanken Grotesk"/>
              </a:rPr>
              <a:t>.</a:t>
            </a: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+mj-lt"/>
                <a:ea typeface="+mj-ea"/>
                <a:cs typeface="Hanken Grotesk"/>
                <a:sym typeface="Hanken Grotesk"/>
              </a:rPr>
              <a:t>추출 결과를 </a:t>
            </a:r>
            <a:r>
              <a:rPr lang="ko-KR" altLang="en-US" sz="900" b="1" dirty="0">
                <a:latin typeface="+mj-lt"/>
                <a:ea typeface="+mj-ea"/>
                <a:cs typeface="Hanken Grotesk"/>
                <a:sym typeface="Hanken Grotesk"/>
              </a:rPr>
              <a:t>지식그래프 형태의 약물 기전 데이터베이스로 구축</a:t>
            </a:r>
            <a:r>
              <a:rPr lang="ko-KR" altLang="en-US" sz="900" dirty="0">
                <a:latin typeface="+mj-lt"/>
                <a:ea typeface="+mj-ea"/>
                <a:cs typeface="Hanken Grotesk"/>
                <a:sym typeface="Hanken Grotesk"/>
              </a:rPr>
              <a:t>했습니다</a:t>
            </a:r>
            <a:r>
              <a:rPr lang="en-US" altLang="ko-KR" sz="900" dirty="0">
                <a:latin typeface="+mj-lt"/>
                <a:ea typeface="+mj-ea"/>
                <a:cs typeface="Hanken Grotesk"/>
                <a:sym typeface="Hanken Grotesk"/>
              </a:rPr>
              <a:t>.</a:t>
            </a:r>
          </a:p>
        </p:txBody>
      </p:sp>
      <p:sp>
        <p:nvSpPr>
          <p:cNvPr id="10" name="Google Shape;352;p44">
            <a:extLst>
              <a:ext uri="{FF2B5EF4-FFF2-40B4-BE49-F238E27FC236}">
                <a16:creationId xmlns:a16="http://schemas.microsoft.com/office/drawing/2014/main" id="{ED6975B2-9EF9-4F13-9293-358F25C5D540}"/>
              </a:ext>
            </a:extLst>
          </p:cNvPr>
          <p:cNvSpPr txBox="1">
            <a:spLocks/>
          </p:cNvSpPr>
          <p:nvPr/>
        </p:nvSpPr>
        <p:spPr>
          <a:xfrm>
            <a:off x="388838" y="297417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 Black"/>
              <a:buNone/>
              <a:defRPr sz="28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r>
              <a:rPr lang="ko-KR" altLang="en-US" b="1" dirty="0">
                <a:latin typeface="+mj-lt"/>
                <a:ea typeface="+mj-ea"/>
                <a:cs typeface="Hanken Grotesk Black"/>
                <a:sym typeface="Hanken Grotesk Black"/>
              </a:rPr>
              <a:t>학위 논문</a:t>
            </a:r>
            <a:r>
              <a:rPr lang="en-US" altLang="ko-KR" b="1" dirty="0">
                <a:latin typeface="+mj-lt"/>
                <a:ea typeface="+mj-ea"/>
                <a:cs typeface="Hanken Grotesk Black"/>
                <a:sym typeface="Hanken Grotesk Black"/>
              </a:rPr>
              <a:t>: KAIST</a:t>
            </a:r>
            <a:endParaRPr lang="en-US" b="1" dirty="0">
              <a:latin typeface="+mj-lt"/>
              <a:ea typeface="+mj-ea"/>
              <a:cs typeface="Hanken Grotesk Black"/>
              <a:sym typeface="Hanken Grotesk Black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5925AD1-BA4A-44E3-AD4C-470290BFE226}"/>
              </a:ext>
            </a:extLst>
          </p:cNvPr>
          <p:cNvGrpSpPr/>
          <p:nvPr/>
        </p:nvGrpSpPr>
        <p:grpSpPr>
          <a:xfrm>
            <a:off x="4216476" y="2337453"/>
            <a:ext cx="4538686" cy="2326194"/>
            <a:chOff x="3969174" y="2266950"/>
            <a:chExt cx="4753738" cy="242019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ED85EAE-71C2-4780-BEEC-8C189437B8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69174" y="2313952"/>
              <a:ext cx="4753738" cy="2373196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13E9423-262D-4D40-85A1-D3802833449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69174" y="2266950"/>
              <a:ext cx="860226" cy="800384"/>
            </a:xfrm>
            <a:prstGeom prst="rect">
              <a:avLst/>
            </a:prstGeom>
          </p:spPr>
        </p:pic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E0C2C750-A77F-4C76-B8DD-6C1BC32F97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38" y="2288792"/>
            <a:ext cx="3408462" cy="246869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BDB07C0-C7E1-4305-8666-2E09349D0ABE}"/>
              </a:ext>
            </a:extLst>
          </p:cNvPr>
          <p:cNvSpPr txBox="1"/>
          <p:nvPr/>
        </p:nvSpPr>
        <p:spPr>
          <a:xfrm>
            <a:off x="1394569" y="2015417"/>
            <a:ext cx="1397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b="1" dirty="0"/>
              <a:t>정보 추출 파이프라인</a:t>
            </a:r>
            <a:endParaRPr lang="en-DE" sz="9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A9D073-A1DB-40E9-B869-0DDC8A0B5084}"/>
              </a:ext>
            </a:extLst>
          </p:cNvPr>
          <p:cNvSpPr txBox="1"/>
          <p:nvPr/>
        </p:nvSpPr>
        <p:spPr>
          <a:xfrm>
            <a:off x="6220569" y="2057379"/>
            <a:ext cx="106753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b="1" dirty="0"/>
              <a:t>지식그래프 예시</a:t>
            </a:r>
            <a:endParaRPr lang="en-DE" sz="900" b="1" dirty="0"/>
          </a:p>
        </p:txBody>
      </p:sp>
    </p:spTree>
    <p:extLst>
      <p:ext uri="{BB962C8B-B14F-4D97-AF65-F5344CB8AC3E}">
        <p14:creationId xmlns:p14="http://schemas.microsoft.com/office/powerpoint/2010/main" val="7432173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Elegant Black &amp; White Thesis Defense by Slidesgo">
  <a:themeElements>
    <a:clrScheme name="Simple Light">
      <a:dk1>
        <a:srgbClr val="333333"/>
      </a:dk1>
      <a:lt1>
        <a:srgbClr val="FDFDFD"/>
      </a:lt1>
      <a:dk2>
        <a:srgbClr val="E8E7E7"/>
      </a:dk2>
      <a:lt2>
        <a:srgbClr val="B2B2B2"/>
      </a:lt2>
      <a:accent1>
        <a:srgbClr val="77777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577</Words>
  <Application>Microsoft Office PowerPoint</Application>
  <PresentationFormat>On-screen Show (16:9)</PresentationFormat>
  <Paragraphs>71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Nunito Light</vt:lpstr>
      <vt:lpstr>Figtree Black</vt:lpstr>
      <vt:lpstr>맑은 고딕</vt:lpstr>
      <vt:lpstr>Arial</vt:lpstr>
      <vt:lpstr>Wingdings</vt:lpstr>
      <vt:lpstr>Hanken Grotesk</vt:lpstr>
      <vt:lpstr>Lato</vt:lpstr>
      <vt:lpstr>Calibri</vt:lpstr>
      <vt:lpstr>Simple Light</vt:lpstr>
      <vt:lpstr>Elegant Black &amp; White Thesis Defense by Slidesgo</vt:lpstr>
      <vt:lpstr>Portfolio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전공 소개서</dc:title>
  <cp:lastModifiedBy>Lee, Daeho</cp:lastModifiedBy>
  <cp:revision>51</cp:revision>
  <dcterms:modified xsi:type="dcterms:W3CDTF">2026-04-10T15:48:19Z</dcterms:modified>
</cp:coreProperties>
</file>